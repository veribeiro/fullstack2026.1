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bbba83df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bbba83df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e58c51fb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e58c51fb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c27b91a809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c27b91a809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c27b91a809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c27b91a809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c27b91a809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c27b91a809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c27b91a809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c27b91a809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c27b91a809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c27b91a809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c27b91a809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c27b91a809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c27b91a809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c27b91a809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c27b91a809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c27b91a809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c27b91a809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c27b91a809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c27b91a809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c27b91a809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c27b91a809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c27b91a809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c27b91a809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c27b91a809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c27b91a809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c27b91a809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c27b91a809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c27b91a809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c27b91a809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c27b91a809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c27b91a809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c27b91a809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c27b91a809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c27b91a809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c27b91a809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c27b91a809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c27b91a809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c27b91a809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c27b91a809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c27b91a809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c27b91a809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c27b91a809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c27b91a809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c27b91a809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c27b91a809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c27b91a809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c27b91a809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1c27b91a809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c27b91a809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c27b91a809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c27b91a809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c27b91a809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a358a12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2a358a12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e58c51fbe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e58c51fbe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e97c74f5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e97c74f5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66" name="Google Shape;66;p1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8" name="Google Shape;88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5" name="Google Shape;95;p1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3" name="Google Shape;103;p1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9" name="Google Shape;109;p1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19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0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16" name="Google Shape;116;p20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0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0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0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0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0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0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0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0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0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0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0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0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0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20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1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8" name="Google Shape;138;p2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21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21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2" name="Google Shape;142;p21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22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46" name="Google Shape;146;p22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2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52" name="Google Shape;152;p2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23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eveloper.mozilla.org/pt-BR/docs/Web/CSS/:hover" TargetMode="External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w3schools.com/css/css_examples.asp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w3schools.com/css/default.asp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w3school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ctrTitle"/>
          </p:nvPr>
        </p:nvSpPr>
        <p:spPr>
          <a:xfrm>
            <a:off x="379200" y="3183225"/>
            <a:ext cx="83856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00"/>
              <a:t>CC1620 - Desenvolvimento Web</a:t>
            </a:r>
            <a:br>
              <a:rPr lang="pt-BR" sz="3900"/>
            </a:br>
            <a:r>
              <a:rPr lang="pt-BR" sz="3900"/>
              <a:t>CCP120 - Programação Full Stack</a:t>
            </a:r>
            <a:endParaRPr sz="3900"/>
          </a:p>
        </p:txBody>
      </p:sp>
      <p:pic>
        <p:nvPicPr>
          <p:cNvPr id="180" name="Google Shape;180;p25"/>
          <p:cNvPicPr preferRelativeResize="0"/>
          <p:nvPr/>
        </p:nvPicPr>
        <p:blipFill rotWithShape="1">
          <a:blip r:embed="rId3">
            <a:alphaModFix/>
          </a:blip>
          <a:srcRect b="12185" l="23243" r="22439" t="20975"/>
          <a:stretch/>
        </p:blipFill>
        <p:spPr>
          <a:xfrm>
            <a:off x="7377151" y="166425"/>
            <a:ext cx="1396000" cy="121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Não esqueçam de marcar presença!</a:t>
            </a:r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1264250" y="393750"/>
            <a:ext cx="76503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Um pouco de Arquitetura de Software</a:t>
            </a:r>
            <a:endParaRPr sz="3000"/>
          </a:p>
        </p:txBody>
      </p:sp>
      <p:sp>
        <p:nvSpPr>
          <p:cNvPr id="192" name="Google Shape;192;p27"/>
          <p:cNvSpPr txBox="1"/>
          <p:nvPr/>
        </p:nvSpPr>
        <p:spPr>
          <a:xfrm>
            <a:off x="1012175" y="1189900"/>
            <a:ext cx="7743900" cy="3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Char char="●"/>
            </a:pP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Normalmente separa-se uma aplicação Web em 2 camadas: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Char char="○"/>
            </a:pPr>
            <a:r>
              <a:rPr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Front-End:</a:t>
            </a: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Camada responsável por interagir com o usuário (</a:t>
            </a:r>
            <a:r>
              <a:rPr i="1"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que você vê</a:t>
            </a: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2400"/>
              <a:buFont typeface="Roboto"/>
              <a:buChar char="○"/>
            </a:pPr>
            <a:r>
              <a:rPr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Back-End:</a:t>
            </a: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Camada responsável por processar as informações recebidas do usuário </a:t>
            </a:r>
            <a:r>
              <a:rPr lang="pt-B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i="1" lang="pt-B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como funciona</a:t>
            </a:r>
            <a:r>
              <a:rPr lang="pt-B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/>
          <p:nvPr/>
        </p:nvSpPr>
        <p:spPr>
          <a:xfrm>
            <a:off x="4987200" y="2935400"/>
            <a:ext cx="3159000" cy="52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8"/>
          <p:cNvSpPr/>
          <p:nvPr/>
        </p:nvSpPr>
        <p:spPr>
          <a:xfrm>
            <a:off x="1340825" y="2996975"/>
            <a:ext cx="3159000" cy="52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8"/>
          <p:cNvSpPr txBox="1"/>
          <p:nvPr>
            <p:ph type="title"/>
          </p:nvPr>
        </p:nvSpPr>
        <p:spPr>
          <a:xfrm>
            <a:off x="1264250" y="393750"/>
            <a:ext cx="7666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Um pouco de Arquitetura de Software</a:t>
            </a:r>
            <a:endParaRPr sz="3000"/>
          </a:p>
        </p:txBody>
      </p:sp>
      <p:pic>
        <p:nvPicPr>
          <p:cNvPr id="200" name="Google Shape;20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250" y="1349400"/>
            <a:ext cx="3182639" cy="353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6850" y="1349400"/>
            <a:ext cx="3182639" cy="353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8066" y="2250650"/>
            <a:ext cx="344924" cy="48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5319" y="2258959"/>
            <a:ext cx="344924" cy="48314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8"/>
          <p:cNvSpPr/>
          <p:nvPr/>
        </p:nvSpPr>
        <p:spPr>
          <a:xfrm>
            <a:off x="5025609" y="3725375"/>
            <a:ext cx="3082800" cy="5205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91400" y="3649175"/>
            <a:ext cx="1491190" cy="91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/>
          <p:nvPr/>
        </p:nvSpPr>
        <p:spPr>
          <a:xfrm>
            <a:off x="265575" y="2095625"/>
            <a:ext cx="4337400" cy="2730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9"/>
          <p:cNvSpPr txBox="1"/>
          <p:nvPr>
            <p:ph type="title"/>
          </p:nvPr>
        </p:nvSpPr>
        <p:spPr>
          <a:xfrm>
            <a:off x="126425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No curso vamos usar</a:t>
            </a:r>
            <a:endParaRPr sz="3000"/>
          </a:p>
        </p:txBody>
      </p:sp>
      <p:sp>
        <p:nvSpPr>
          <p:cNvPr id="212" name="Google Shape;212;p29"/>
          <p:cNvSpPr txBox="1"/>
          <p:nvPr/>
        </p:nvSpPr>
        <p:spPr>
          <a:xfrm>
            <a:off x="224025" y="1555625"/>
            <a:ext cx="4063200" cy="3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Char char="●"/>
            </a:pPr>
            <a:r>
              <a:rPr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Front-End:</a:t>
            </a: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3" name="Google Shape;21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363" y="2336600"/>
            <a:ext cx="4011000" cy="23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9"/>
          <p:cNvSpPr txBox="1"/>
          <p:nvPr/>
        </p:nvSpPr>
        <p:spPr>
          <a:xfrm>
            <a:off x="4674225" y="1555625"/>
            <a:ext cx="4337400" cy="3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Char char="●"/>
            </a:pPr>
            <a:r>
              <a:rPr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Back-End:</a:t>
            </a: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4696122" y="2088687"/>
            <a:ext cx="4337400" cy="2730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6300" y="2336599"/>
            <a:ext cx="2398475" cy="147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3950" y="4028368"/>
            <a:ext cx="2316124" cy="6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/>
          <p:nvPr/>
        </p:nvSpPr>
        <p:spPr>
          <a:xfrm>
            <a:off x="2703975" y="2095625"/>
            <a:ext cx="4337400" cy="2730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0"/>
          <p:cNvSpPr txBox="1"/>
          <p:nvPr>
            <p:ph type="title"/>
          </p:nvPr>
        </p:nvSpPr>
        <p:spPr>
          <a:xfrm>
            <a:off x="126425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Vamos então continuar a falar de front-end:</a:t>
            </a:r>
            <a:endParaRPr sz="3000"/>
          </a:p>
        </p:txBody>
      </p:sp>
      <p:sp>
        <p:nvSpPr>
          <p:cNvPr id="224" name="Google Shape;224;p30"/>
          <p:cNvSpPr txBox="1"/>
          <p:nvPr/>
        </p:nvSpPr>
        <p:spPr>
          <a:xfrm>
            <a:off x="2662425" y="1555625"/>
            <a:ext cx="4063200" cy="3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Char char="●"/>
            </a:pPr>
            <a:r>
              <a:rPr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Front-End:</a:t>
            </a: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5" name="Google Shape;22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8763" y="2336600"/>
            <a:ext cx="4011000" cy="23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/>
          <p:nvPr/>
        </p:nvSpPr>
        <p:spPr>
          <a:xfrm>
            <a:off x="2703975" y="2095625"/>
            <a:ext cx="4337400" cy="2730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1"/>
          <p:cNvSpPr txBox="1"/>
          <p:nvPr>
            <p:ph type="title"/>
          </p:nvPr>
        </p:nvSpPr>
        <p:spPr>
          <a:xfrm>
            <a:off x="126425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Vamos então continuar a falar de front-end:</a:t>
            </a:r>
            <a:endParaRPr sz="3000"/>
          </a:p>
        </p:txBody>
      </p:sp>
      <p:sp>
        <p:nvSpPr>
          <p:cNvPr id="232" name="Google Shape;232;p31"/>
          <p:cNvSpPr txBox="1"/>
          <p:nvPr/>
        </p:nvSpPr>
        <p:spPr>
          <a:xfrm>
            <a:off x="2662425" y="1555625"/>
            <a:ext cx="4063200" cy="3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Char char="●"/>
            </a:pPr>
            <a:r>
              <a:rPr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Front-End:</a:t>
            </a: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31"/>
          <p:cNvSpPr/>
          <p:nvPr/>
        </p:nvSpPr>
        <p:spPr>
          <a:xfrm>
            <a:off x="5540775" y="2527700"/>
            <a:ext cx="1296300" cy="21300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8675" y="2300575"/>
            <a:ext cx="4011000" cy="23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CSS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CSS</a:t>
            </a:r>
            <a:endParaRPr sz="3000"/>
          </a:p>
        </p:txBody>
      </p:sp>
      <p:sp>
        <p:nvSpPr>
          <p:cNvPr id="245" name="Google Shape;245;p33"/>
          <p:cNvSpPr txBox="1"/>
          <p:nvPr/>
        </p:nvSpPr>
        <p:spPr>
          <a:xfrm>
            <a:off x="1145425" y="1189175"/>
            <a:ext cx="76107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i="1"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i="1"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ascading </a:t>
            </a:r>
            <a:r>
              <a:rPr i="1"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i="1"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tyle </a:t>
            </a:r>
            <a:r>
              <a:rPr i="1"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i="1"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heets</a:t>
            </a: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(CSS): Folhas de Estilo em Cascata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Char char="●"/>
            </a:pP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Lida com a estética de uma página Web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Char char="●"/>
            </a:pP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Pode-se  controlar, por exemplo, cor do texto, o estilo das fontes, espaçamentos, disposições etc.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2400"/>
              <a:buFont typeface="Roboto"/>
              <a:buChar char="●"/>
            </a:pP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Versão atual: </a:t>
            </a:r>
            <a:r>
              <a:rPr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CSS3</a:t>
            </a:r>
            <a:endParaRPr sz="24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Por que usar CSS?</a:t>
            </a:r>
            <a:endParaRPr sz="3000"/>
          </a:p>
        </p:txBody>
      </p:sp>
      <p:sp>
        <p:nvSpPr>
          <p:cNvPr id="251" name="Google Shape;251;p34"/>
          <p:cNvSpPr txBox="1"/>
          <p:nvPr/>
        </p:nvSpPr>
        <p:spPr>
          <a:xfrm>
            <a:off x="978950" y="1189175"/>
            <a:ext cx="76863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“Quando tags de dedicadas à estética foram adicionadas à especificação do HTML 3.2, iniciou-se um pesadelo para desenvolvedores web. O desenvolvimento de grandes sites, onde fontes e informações de cores foram adicionados a cada página, tornou-se um processo longo e caro.”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4"/>
          <p:cNvSpPr txBox="1"/>
          <p:nvPr/>
        </p:nvSpPr>
        <p:spPr>
          <a:xfrm>
            <a:off x="978950" y="4704750"/>
            <a:ext cx="5546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Fonte: https://www.w3schools.com/css/css_intro.asp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Por que usar CSS?</a:t>
            </a:r>
            <a:endParaRPr sz="3000"/>
          </a:p>
        </p:txBody>
      </p:sp>
      <p:sp>
        <p:nvSpPr>
          <p:cNvPr id="258" name="Google Shape;258;p35"/>
          <p:cNvSpPr txBox="1"/>
          <p:nvPr/>
        </p:nvSpPr>
        <p:spPr>
          <a:xfrm>
            <a:off x="978950" y="1035225"/>
            <a:ext cx="7686300" cy="3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“HTML não foi projetada para conter tags para formatar uma página da web!”</a:t>
            </a:r>
            <a:endParaRPr i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HTML foi criada para descrever o conteúdo de uma página da Web, como:</a:t>
            </a:r>
            <a:endParaRPr i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&lt;h1&gt; Este é um título &lt;/h1&gt;</a:t>
            </a:r>
            <a:endParaRPr i="1" sz="18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&lt;p&gt; Este é um parágrafo. &lt;/p&gt;</a:t>
            </a:r>
            <a:endParaRPr sz="1800">
              <a:solidFill>
                <a:srgbClr val="00FFFF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Fonte: https://www.w3schools.com/css/css_intro.asp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35"/>
          <p:cNvSpPr txBox="1"/>
          <p:nvPr/>
        </p:nvSpPr>
        <p:spPr>
          <a:xfrm>
            <a:off x="978950" y="4933350"/>
            <a:ext cx="5546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Fonte: https://www.w3schools.com/css/css_intro.asp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CSS</a:t>
            </a:r>
            <a:endParaRPr sz="3000"/>
          </a:p>
        </p:txBody>
      </p:sp>
      <p:sp>
        <p:nvSpPr>
          <p:cNvPr id="265" name="Google Shape;265;p36"/>
          <p:cNvSpPr txBox="1"/>
          <p:nvPr/>
        </p:nvSpPr>
        <p:spPr>
          <a:xfrm>
            <a:off x="1011600" y="1763250"/>
            <a:ext cx="7610700" cy="3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Existem três formas de se inserir CSS em uma página</a:t>
            </a:r>
            <a:endParaRPr sz="3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CSS</a:t>
            </a:r>
            <a:endParaRPr sz="3000"/>
          </a:p>
        </p:txBody>
      </p:sp>
      <p:sp>
        <p:nvSpPr>
          <p:cNvPr id="271" name="Google Shape;271;p37"/>
          <p:cNvSpPr txBox="1"/>
          <p:nvPr/>
        </p:nvSpPr>
        <p:spPr>
          <a:xfrm>
            <a:off x="1145425" y="1214825"/>
            <a:ext cx="7610700" cy="3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1ª Forma:</a:t>
            </a:r>
            <a:r>
              <a:rPr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Inline </a:t>
            </a: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(atributo </a:t>
            </a:r>
            <a:r>
              <a:rPr i="1"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style</a:t>
            </a: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em uma tag)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9900"/>
                </a:solidFill>
              </a:rPr>
              <a:t>Essa forma </a:t>
            </a:r>
            <a:r>
              <a:rPr lang="pt-BR" sz="2000" u="sng">
                <a:solidFill>
                  <a:srgbClr val="FF9900"/>
                </a:solidFill>
              </a:rPr>
              <a:t>não</a:t>
            </a:r>
            <a:r>
              <a:rPr lang="pt-BR" sz="2000">
                <a:solidFill>
                  <a:srgbClr val="FF9900"/>
                </a:solidFill>
              </a:rPr>
              <a:t> é recomendada pois você está misturando a camada de conteúdo (HTML), com a camada de estilo (CSS). Utilize somente em casos de extrema necessidade, ou somente para efetuar testes.</a:t>
            </a:r>
            <a:endParaRPr sz="20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2" name="Google Shape;272;p37"/>
          <p:cNvPicPr preferRelativeResize="0"/>
          <p:nvPr/>
        </p:nvPicPr>
        <p:blipFill rotWithShape="1">
          <a:blip r:embed="rId3">
            <a:alphaModFix/>
          </a:blip>
          <a:srcRect b="15254" l="6585" r="9" t="0"/>
          <a:stretch/>
        </p:blipFill>
        <p:spPr>
          <a:xfrm>
            <a:off x="1877138" y="2264825"/>
            <a:ext cx="5389725" cy="3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/>
          <p:nvPr>
            <p:ph type="title"/>
          </p:nvPr>
        </p:nvSpPr>
        <p:spPr>
          <a:xfrm>
            <a:off x="1336825" y="3422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CSSz</a:t>
            </a:r>
            <a:endParaRPr sz="3000"/>
          </a:p>
        </p:txBody>
      </p:sp>
      <p:sp>
        <p:nvSpPr>
          <p:cNvPr id="278" name="Google Shape;278;p38"/>
          <p:cNvSpPr txBox="1"/>
          <p:nvPr/>
        </p:nvSpPr>
        <p:spPr>
          <a:xfrm>
            <a:off x="1145425" y="1256375"/>
            <a:ext cx="7610700" cy="3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2ª Forma:</a:t>
            </a:r>
            <a:r>
              <a:rPr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 Incorporado</a:t>
            </a:r>
            <a:r>
              <a:rPr i="1"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(Dentro da tag </a:t>
            </a:r>
            <a:r>
              <a:rPr i="1"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&lt;style&gt;</a:t>
            </a: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</a:rPr>
              <a:t>Dessa forma, utilizamos de </a:t>
            </a:r>
            <a:r>
              <a:rPr i="1" lang="pt-BR" sz="2000">
                <a:solidFill>
                  <a:srgbClr val="00FFFF"/>
                </a:solidFill>
              </a:rPr>
              <a:t>seletores</a:t>
            </a:r>
            <a:r>
              <a:rPr lang="pt-BR" sz="2000">
                <a:solidFill>
                  <a:srgbClr val="FFFFFF"/>
                </a:solidFill>
              </a:rPr>
              <a:t> para dar estilo a nossa página, inserindo o CSS dentro do </a:t>
            </a:r>
            <a:r>
              <a:rPr i="1" lang="pt-BR" sz="2000">
                <a:solidFill>
                  <a:srgbClr val="00FFFF"/>
                </a:solidFill>
              </a:rPr>
              <a:t>&lt;head&gt;</a:t>
            </a:r>
            <a:r>
              <a:rPr i="1" lang="pt-BR" sz="2000">
                <a:solidFill>
                  <a:srgbClr val="FFFFFF"/>
                </a:solidFill>
              </a:rPr>
              <a:t> </a:t>
            </a:r>
            <a:r>
              <a:rPr lang="pt-BR" sz="2000">
                <a:solidFill>
                  <a:srgbClr val="FFFFFF"/>
                </a:solidFill>
              </a:rPr>
              <a:t>de nossa página.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9" name="Google Shape;27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1200" y="1968776"/>
            <a:ext cx="3721600" cy="18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CSS</a:t>
            </a:r>
            <a:endParaRPr sz="3000"/>
          </a:p>
        </p:txBody>
      </p:sp>
      <p:sp>
        <p:nvSpPr>
          <p:cNvPr id="285" name="Google Shape;285;p39"/>
          <p:cNvSpPr txBox="1"/>
          <p:nvPr/>
        </p:nvSpPr>
        <p:spPr>
          <a:xfrm>
            <a:off x="1145425" y="1256375"/>
            <a:ext cx="7610700" cy="3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3ª Forma:</a:t>
            </a:r>
            <a:r>
              <a:rPr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 Linkado</a:t>
            </a:r>
            <a:r>
              <a:rPr i="1"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 CSS em </a:t>
            </a:r>
            <a:r>
              <a:rPr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arquivo externo</a:t>
            </a: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chamado na tag </a:t>
            </a:r>
            <a:r>
              <a:rPr i="1"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&lt;link&gt;</a:t>
            </a:r>
            <a:endParaRPr i="1" sz="24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FF00"/>
                </a:solidFill>
              </a:rPr>
              <a:t>Este é o método que apresenta maior versatilidade. Um arquivo externo CSS pode ser ligado a quantas páginas desejarmos, desta forma a manutenção de um site fica muito mais fácil.</a:t>
            </a:r>
            <a:endParaRPr sz="2000">
              <a:solidFill>
                <a:srgbClr val="00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6" name="Google Shape;28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288" y="2489950"/>
            <a:ext cx="6487425" cy="77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7650" y="3483750"/>
            <a:ext cx="1023325" cy="102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CSS - Exemplo </a:t>
            </a:r>
            <a:r>
              <a:rPr i="1" lang="pt-BR" sz="3000">
                <a:solidFill>
                  <a:srgbClr val="00FFFF"/>
                </a:solidFill>
              </a:rPr>
              <a:t>arquivo.css</a:t>
            </a:r>
            <a:endParaRPr i="1" sz="3000">
              <a:solidFill>
                <a:srgbClr val="00FFFF"/>
              </a:solidFill>
            </a:endParaRPr>
          </a:p>
        </p:txBody>
      </p:sp>
      <p:sp>
        <p:nvSpPr>
          <p:cNvPr id="293" name="Google Shape;293;p40"/>
          <p:cNvSpPr txBox="1"/>
          <p:nvPr/>
        </p:nvSpPr>
        <p:spPr>
          <a:xfrm>
            <a:off x="1145425" y="1256375"/>
            <a:ext cx="7610700" cy="3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3ª Forma:</a:t>
            </a:r>
            <a:r>
              <a:rPr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 Linkado</a:t>
            </a:r>
            <a:r>
              <a:rPr i="1" lang="pt-BR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(CSS em arquivo externo)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4" name="Google Shape;294;p40"/>
          <p:cNvPicPr preferRelativeResize="0"/>
          <p:nvPr/>
        </p:nvPicPr>
        <p:blipFill rotWithShape="1">
          <a:blip r:embed="rId3">
            <a:alphaModFix/>
          </a:blip>
          <a:srcRect b="0" l="10177" r="0" t="0"/>
          <a:stretch/>
        </p:blipFill>
        <p:spPr>
          <a:xfrm>
            <a:off x="3191775" y="2612325"/>
            <a:ext cx="3393600" cy="11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/>
          <p:nvPr/>
        </p:nvSpPr>
        <p:spPr>
          <a:xfrm>
            <a:off x="3031075" y="2209500"/>
            <a:ext cx="62109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Arquivo:</a:t>
            </a:r>
            <a:r>
              <a:rPr i="1" lang="pt-BR" sz="18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rPr>
              <a:t> arquivo.css</a:t>
            </a:r>
            <a:endParaRPr i="1" sz="1800">
              <a:solidFill>
                <a:srgbClr val="00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" name="Google Shape;296;p40"/>
          <p:cNvSpPr txBox="1"/>
          <p:nvPr/>
        </p:nvSpPr>
        <p:spPr>
          <a:xfrm>
            <a:off x="1297500" y="3988050"/>
            <a:ext cx="62241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Configuração de estilo da tag</a:t>
            </a:r>
            <a:r>
              <a:rPr lang="pt-BR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pt-BR" sz="20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rPr>
              <a:t>&lt;p&gt;</a:t>
            </a:r>
            <a:endParaRPr i="1" sz="2000">
              <a:solidFill>
                <a:srgbClr val="00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CSS - Regras</a:t>
            </a:r>
            <a:endParaRPr sz="3000"/>
          </a:p>
        </p:txBody>
      </p:sp>
      <p:sp>
        <p:nvSpPr>
          <p:cNvPr id="302" name="Google Shape;302;p41"/>
          <p:cNvSpPr txBox="1"/>
          <p:nvPr/>
        </p:nvSpPr>
        <p:spPr>
          <a:xfrm>
            <a:off x="1145425" y="1256375"/>
            <a:ext cx="7610700" cy="3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Regras CSS (Incorporado ou Linkado):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3" name="Google Shape;303;p41"/>
          <p:cNvPicPr preferRelativeResize="0"/>
          <p:nvPr/>
        </p:nvPicPr>
        <p:blipFill rotWithShape="1">
          <a:blip r:embed="rId3">
            <a:alphaModFix/>
          </a:blip>
          <a:srcRect b="0" l="10314" r="0" t="0"/>
          <a:stretch/>
        </p:blipFill>
        <p:spPr>
          <a:xfrm>
            <a:off x="3014775" y="2718850"/>
            <a:ext cx="3519000" cy="1192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4" name="Google Shape;304;p41"/>
          <p:cNvCxnSpPr>
            <a:stCxn id="305" idx="2"/>
          </p:cNvCxnSpPr>
          <p:nvPr/>
        </p:nvCxnSpPr>
        <p:spPr>
          <a:xfrm>
            <a:off x="2765400" y="2311675"/>
            <a:ext cx="299100" cy="43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5" name="Google Shape;305;p41"/>
          <p:cNvSpPr txBox="1"/>
          <p:nvPr/>
        </p:nvSpPr>
        <p:spPr>
          <a:xfrm>
            <a:off x="2333250" y="1921075"/>
            <a:ext cx="864300" cy="3906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Seletor</a:t>
            </a:r>
            <a:endParaRPr/>
          </a:p>
        </p:txBody>
      </p:sp>
      <p:sp>
        <p:nvSpPr>
          <p:cNvPr id="306" name="Google Shape;306;p41"/>
          <p:cNvSpPr txBox="1"/>
          <p:nvPr/>
        </p:nvSpPr>
        <p:spPr>
          <a:xfrm>
            <a:off x="3840075" y="1921075"/>
            <a:ext cx="864300" cy="3906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Chaves</a:t>
            </a:r>
            <a:endParaRPr/>
          </a:p>
        </p:txBody>
      </p:sp>
      <p:cxnSp>
        <p:nvCxnSpPr>
          <p:cNvPr id="307" name="Google Shape;307;p41"/>
          <p:cNvCxnSpPr>
            <a:stCxn id="306" idx="2"/>
          </p:cNvCxnSpPr>
          <p:nvPr/>
        </p:nvCxnSpPr>
        <p:spPr>
          <a:xfrm flipH="1">
            <a:off x="3380325" y="2311675"/>
            <a:ext cx="891900" cy="55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" name="Google Shape;308;p41"/>
          <p:cNvSpPr txBox="1"/>
          <p:nvPr/>
        </p:nvSpPr>
        <p:spPr>
          <a:xfrm>
            <a:off x="5272125" y="1921075"/>
            <a:ext cx="1261500" cy="3906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Propriedade</a:t>
            </a:r>
            <a:endParaRPr/>
          </a:p>
        </p:txBody>
      </p:sp>
      <p:cxnSp>
        <p:nvCxnSpPr>
          <p:cNvPr id="309" name="Google Shape;309;p41"/>
          <p:cNvCxnSpPr>
            <a:stCxn id="308" idx="2"/>
          </p:cNvCxnSpPr>
          <p:nvPr/>
        </p:nvCxnSpPr>
        <p:spPr>
          <a:xfrm flipH="1">
            <a:off x="4203075" y="2311675"/>
            <a:ext cx="1699800" cy="69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0" name="Google Shape;310;p41"/>
          <p:cNvSpPr txBox="1"/>
          <p:nvPr/>
        </p:nvSpPr>
        <p:spPr>
          <a:xfrm>
            <a:off x="6787250" y="1921075"/>
            <a:ext cx="1261500" cy="3906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Valor</a:t>
            </a:r>
            <a:endParaRPr/>
          </a:p>
        </p:txBody>
      </p:sp>
      <p:cxnSp>
        <p:nvCxnSpPr>
          <p:cNvPr id="311" name="Google Shape;311;p41"/>
          <p:cNvCxnSpPr>
            <a:stCxn id="310" idx="2"/>
          </p:cNvCxnSpPr>
          <p:nvPr/>
        </p:nvCxnSpPr>
        <p:spPr>
          <a:xfrm flipH="1">
            <a:off x="5092100" y="2311675"/>
            <a:ext cx="2325900" cy="71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CSS - Seletores</a:t>
            </a:r>
            <a:endParaRPr sz="3000"/>
          </a:p>
        </p:txBody>
      </p:sp>
      <p:sp>
        <p:nvSpPr>
          <p:cNvPr id="317" name="Google Shape;317;p42"/>
          <p:cNvSpPr txBox="1"/>
          <p:nvPr>
            <p:ph idx="1" type="body"/>
          </p:nvPr>
        </p:nvSpPr>
        <p:spPr>
          <a:xfrm>
            <a:off x="1297500" y="1307850"/>
            <a:ext cx="7038900" cy="31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Seletores são padrões usados para selecionar os elementos que você deseja estilizar.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pt-BR" sz="2000"/>
              <a:t>Os mais comuns são: </a:t>
            </a:r>
            <a:r>
              <a:rPr lang="pt-BR" sz="2000">
                <a:solidFill>
                  <a:srgbClr val="00FFFF"/>
                </a:solidFill>
              </a:rPr>
              <a:t>elemento</a:t>
            </a:r>
            <a:r>
              <a:rPr lang="pt-BR" sz="2000"/>
              <a:t> (própria tag), </a:t>
            </a:r>
            <a:r>
              <a:rPr lang="pt-BR" sz="2000">
                <a:solidFill>
                  <a:srgbClr val="00FFFF"/>
                </a:solidFill>
              </a:rPr>
              <a:t>classe</a:t>
            </a:r>
            <a:r>
              <a:rPr lang="pt-BR" sz="2000"/>
              <a:t> e </a:t>
            </a:r>
            <a:r>
              <a:rPr lang="pt-BR" sz="2000">
                <a:solidFill>
                  <a:srgbClr val="00FFFF"/>
                </a:solidFill>
              </a:rPr>
              <a:t>id</a:t>
            </a:r>
            <a:r>
              <a:rPr lang="pt-BR" sz="2000"/>
              <a:t>.</a:t>
            </a:r>
            <a:endParaRPr sz="2000"/>
          </a:p>
        </p:txBody>
      </p:sp>
      <p:pic>
        <p:nvPicPr>
          <p:cNvPr id="318" name="Google Shape;31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0499" y="2711261"/>
            <a:ext cx="6644700" cy="207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Classes e ids</a:t>
            </a:r>
            <a:endParaRPr sz="3000"/>
          </a:p>
        </p:txBody>
      </p:sp>
      <p:sp>
        <p:nvSpPr>
          <p:cNvPr id="324" name="Google Shape;324;p43"/>
          <p:cNvSpPr txBox="1"/>
          <p:nvPr>
            <p:ph idx="1" type="body"/>
          </p:nvPr>
        </p:nvSpPr>
        <p:spPr>
          <a:xfrm>
            <a:off x="978950" y="1307850"/>
            <a:ext cx="7104600" cy="11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pt-BR" sz="2000">
                <a:solidFill>
                  <a:srgbClr val="00FFFF"/>
                </a:solidFill>
              </a:rPr>
              <a:t>id: </a:t>
            </a:r>
            <a:r>
              <a:rPr lang="pt-BR" sz="2000"/>
              <a:t>Deve ser uma </a:t>
            </a:r>
            <a:r>
              <a:rPr lang="pt-BR" sz="2000" u="sng">
                <a:solidFill>
                  <a:srgbClr val="00FFFF"/>
                </a:solidFill>
              </a:rPr>
              <a:t>id</a:t>
            </a:r>
            <a:r>
              <a:rPr lang="pt-BR" sz="2000"/>
              <a:t>entificação única de um elemento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2000"/>
              <a:buChar char="●"/>
            </a:pPr>
            <a:r>
              <a:rPr lang="pt-BR" sz="2000">
                <a:solidFill>
                  <a:srgbClr val="00FFFF"/>
                </a:solidFill>
              </a:rPr>
              <a:t>Classe </a:t>
            </a:r>
            <a:r>
              <a:rPr i="1" lang="pt-BR" sz="2000">
                <a:solidFill>
                  <a:srgbClr val="00FFFF"/>
                </a:solidFill>
              </a:rPr>
              <a:t>(class)</a:t>
            </a:r>
            <a:r>
              <a:rPr lang="pt-BR" sz="2000">
                <a:solidFill>
                  <a:srgbClr val="00FFFF"/>
                </a:solidFill>
              </a:rPr>
              <a:t>: </a:t>
            </a:r>
            <a:r>
              <a:rPr lang="pt-BR" sz="2000"/>
              <a:t>pode ser reutilizável e pode ser combinada com outras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Tag </a:t>
            </a:r>
            <a:r>
              <a:rPr i="1" lang="pt-BR" sz="3000">
                <a:solidFill>
                  <a:srgbClr val="00FFFF"/>
                </a:solidFill>
              </a:rPr>
              <a:t>&lt;div&gt;</a:t>
            </a:r>
            <a:endParaRPr i="1" sz="3000">
              <a:solidFill>
                <a:srgbClr val="00FFFF"/>
              </a:solidFill>
            </a:endParaRPr>
          </a:p>
        </p:txBody>
      </p:sp>
      <p:sp>
        <p:nvSpPr>
          <p:cNvPr id="330" name="Google Shape;330;p44"/>
          <p:cNvSpPr txBox="1"/>
          <p:nvPr>
            <p:ph idx="1" type="body"/>
          </p:nvPr>
        </p:nvSpPr>
        <p:spPr>
          <a:xfrm>
            <a:off x="978950" y="1074000"/>
            <a:ext cx="7357500" cy="32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4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A tag </a:t>
            </a:r>
            <a:r>
              <a:rPr i="1" lang="pt-BR" sz="2000">
                <a:solidFill>
                  <a:srgbClr val="00FFFF"/>
                </a:solidFill>
              </a:rPr>
              <a:t>&lt;div&gt;</a:t>
            </a:r>
            <a:r>
              <a:rPr lang="pt-BR" sz="2000"/>
              <a:t> define uma divisão ou uma seção em um documento HTML.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O elemento </a:t>
            </a:r>
            <a:r>
              <a:rPr i="1" lang="pt-BR" sz="2000">
                <a:solidFill>
                  <a:srgbClr val="00FFFF"/>
                </a:solidFill>
              </a:rPr>
              <a:t>&lt;div&gt;</a:t>
            </a:r>
            <a:r>
              <a:rPr lang="pt-BR" sz="2000"/>
              <a:t> é frequentemente usado como um bloco para outros elementos HTML, para estilizá-los com CSS ou para executar determinadas tarefas com JavaScript.</a:t>
            </a:r>
            <a:endParaRPr sz="2000"/>
          </a:p>
          <a:p>
            <a:pPr indent="-355600" lvl="0" marL="457200" rtl="0" algn="l">
              <a:spcBef>
                <a:spcPts val="1400"/>
              </a:spcBef>
              <a:spcAft>
                <a:spcPts val="1000"/>
              </a:spcAft>
              <a:buSzPts val="2000"/>
              <a:buChar char="●"/>
            </a:pPr>
            <a:r>
              <a:rPr lang="pt-BR" sz="2000"/>
              <a:t>A tag </a:t>
            </a:r>
            <a:r>
              <a:rPr i="1" lang="pt-BR" sz="2000">
                <a:solidFill>
                  <a:srgbClr val="00FFFF"/>
                </a:solidFill>
              </a:rPr>
              <a:t>&lt;div&gt;</a:t>
            </a:r>
            <a:r>
              <a:rPr lang="pt-BR" sz="2000"/>
              <a:t> serve para alterar o estilo em partes específicas da página e posicionar objetos.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5"/>
          <p:cNvSpPr/>
          <p:nvPr/>
        </p:nvSpPr>
        <p:spPr>
          <a:xfrm>
            <a:off x="179825" y="1530575"/>
            <a:ext cx="4395600" cy="301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classe</a:t>
            </a:r>
            <a:endParaRPr/>
          </a:p>
        </p:txBody>
      </p:sp>
      <p:sp>
        <p:nvSpPr>
          <p:cNvPr id="336" name="Google Shape;336;p4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Exemplo - classes e ids</a:t>
            </a:r>
            <a:endParaRPr sz="3000"/>
          </a:p>
        </p:txBody>
      </p:sp>
      <p:pic>
        <p:nvPicPr>
          <p:cNvPr id="337" name="Google Shape;33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600" y="2149925"/>
            <a:ext cx="4238625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5"/>
          <p:cNvSpPr/>
          <p:nvPr/>
        </p:nvSpPr>
        <p:spPr>
          <a:xfrm>
            <a:off x="4684925" y="1530575"/>
            <a:ext cx="4395600" cy="301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id</a:t>
            </a:r>
            <a:endParaRPr/>
          </a:p>
        </p:txBody>
      </p:sp>
      <p:pic>
        <p:nvPicPr>
          <p:cNvPr id="339" name="Google Shape;33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9925" y="2154675"/>
            <a:ext cx="417195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9913" y="3342300"/>
            <a:ext cx="282892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6600" y="3361238"/>
            <a:ext cx="2667000" cy="10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CSS - Seletores</a:t>
            </a:r>
            <a:endParaRPr sz="3000"/>
          </a:p>
        </p:txBody>
      </p:sp>
      <p:sp>
        <p:nvSpPr>
          <p:cNvPr id="347" name="Google Shape;347;p46"/>
          <p:cNvSpPr txBox="1"/>
          <p:nvPr>
            <p:ph idx="1" type="body"/>
          </p:nvPr>
        </p:nvSpPr>
        <p:spPr>
          <a:xfrm>
            <a:off x="1297500" y="1307850"/>
            <a:ext cx="7038900" cy="3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2200">
                <a:latin typeface="Arial"/>
                <a:ea typeface="Arial"/>
                <a:cs typeface="Arial"/>
                <a:sym typeface="Arial"/>
              </a:rPr>
              <a:t>Descendência:</a:t>
            </a:r>
            <a:r>
              <a:rPr b="1" lang="pt-BR" sz="22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 x y</a:t>
            </a:r>
            <a:endParaRPr b="1" sz="22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“tag-</a:t>
            </a:r>
            <a:r>
              <a:rPr lang="pt-BR" sz="1800">
                <a:solidFill>
                  <a:srgbClr val="00FFFF"/>
                </a:solidFill>
              </a:rPr>
              <a:t>y</a:t>
            </a:r>
            <a:r>
              <a:rPr lang="pt-BR" sz="1800"/>
              <a:t>” está dentro, aninhada, da “tag-</a:t>
            </a:r>
            <a:r>
              <a:rPr lang="pt-BR" sz="1800">
                <a:solidFill>
                  <a:srgbClr val="00FFFF"/>
                </a:solidFill>
              </a:rPr>
              <a:t>x</a:t>
            </a:r>
            <a:r>
              <a:rPr lang="pt-BR" sz="1800">
                <a:solidFill>
                  <a:srgbClr val="FFFFFF"/>
                </a:solidFill>
              </a:rPr>
              <a:t>”.</a:t>
            </a:r>
            <a:endParaRPr sz="1800">
              <a:solidFill>
                <a:srgbClr val="FFFFFF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somente as tags </a:t>
            </a:r>
            <a:r>
              <a:rPr lang="pt-BR" sz="1800">
                <a:solidFill>
                  <a:srgbClr val="00FFFF"/>
                </a:solidFill>
              </a:rPr>
              <a:t>y</a:t>
            </a:r>
            <a:r>
              <a:rPr lang="pt-BR" sz="1800"/>
              <a:t> que estiverem dentro da tag </a:t>
            </a:r>
            <a:r>
              <a:rPr lang="pt-BR" sz="1800">
                <a:solidFill>
                  <a:srgbClr val="00FFFF"/>
                </a:solidFill>
              </a:rPr>
              <a:t>x </a:t>
            </a:r>
            <a:r>
              <a:rPr lang="pt-BR" sz="1800"/>
              <a:t>é que vão receber o estilo configurado.</a:t>
            </a:r>
            <a:endParaRPr b="1" sz="22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2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2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2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800"/>
              <a:t>Somente os parágrafos </a:t>
            </a:r>
            <a:r>
              <a:rPr lang="pt-BR" sz="1800">
                <a:solidFill>
                  <a:srgbClr val="00FFFF"/>
                </a:solidFill>
              </a:rPr>
              <a:t>p </a:t>
            </a:r>
            <a:r>
              <a:rPr lang="pt-BR" sz="1800"/>
              <a:t>que estiverem dentro de tags </a:t>
            </a:r>
            <a:r>
              <a:rPr lang="pt-BR" sz="1800">
                <a:solidFill>
                  <a:srgbClr val="00FFFF"/>
                </a:solidFill>
              </a:rPr>
              <a:t>div </a:t>
            </a:r>
            <a:r>
              <a:rPr lang="pt-BR" sz="1800">
                <a:solidFill>
                  <a:srgbClr val="FFFFFF"/>
                </a:solidFill>
              </a:rPr>
              <a:t>no html</a:t>
            </a:r>
            <a:r>
              <a:rPr lang="pt-BR" sz="1800">
                <a:solidFill>
                  <a:srgbClr val="00FFFF"/>
                </a:solidFill>
              </a:rPr>
              <a:t> </a:t>
            </a:r>
            <a:r>
              <a:rPr lang="pt-BR" sz="1800"/>
              <a:t>terão a cor vermelha na fonte.</a:t>
            </a:r>
            <a:endParaRPr b="1" sz="22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348" name="Google Shape;34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225" y="3404900"/>
            <a:ext cx="2238375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1713" y="3423950"/>
            <a:ext cx="273367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6"/>
          <p:cNvSpPr txBox="1"/>
          <p:nvPr/>
        </p:nvSpPr>
        <p:spPr>
          <a:xfrm>
            <a:off x="1486450" y="3050250"/>
            <a:ext cx="2733600" cy="38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FFFF"/>
                </a:solidFill>
              </a:rPr>
              <a:t>css</a:t>
            </a:r>
            <a:endParaRPr i="1">
              <a:solidFill>
                <a:srgbClr val="FFFFFF"/>
              </a:solidFill>
            </a:endParaRPr>
          </a:p>
        </p:txBody>
      </p:sp>
      <p:sp>
        <p:nvSpPr>
          <p:cNvPr id="351" name="Google Shape;351;p46"/>
          <p:cNvSpPr txBox="1"/>
          <p:nvPr/>
        </p:nvSpPr>
        <p:spPr>
          <a:xfrm>
            <a:off x="4095525" y="3050250"/>
            <a:ext cx="49086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FFFF"/>
                </a:solidFill>
              </a:rPr>
              <a:t>html</a:t>
            </a:r>
            <a:endParaRPr i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CSS - Seletores</a:t>
            </a:r>
            <a:endParaRPr sz="3000"/>
          </a:p>
        </p:txBody>
      </p:sp>
      <p:sp>
        <p:nvSpPr>
          <p:cNvPr id="357" name="Google Shape;357;p47"/>
          <p:cNvSpPr txBox="1"/>
          <p:nvPr>
            <p:ph idx="1" type="body"/>
          </p:nvPr>
        </p:nvSpPr>
        <p:spPr>
          <a:xfrm>
            <a:off x="1297500" y="1307850"/>
            <a:ext cx="7038900" cy="3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2200">
                <a:latin typeface="Arial"/>
                <a:ea typeface="Arial"/>
                <a:cs typeface="Arial"/>
                <a:sym typeface="Arial"/>
              </a:rPr>
              <a:t>Pseudo-classes: </a:t>
            </a:r>
            <a:r>
              <a:rPr b="1" lang="pt-BR" sz="22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2200">
                <a:latin typeface="Arial"/>
                <a:ea typeface="Arial"/>
                <a:cs typeface="Arial"/>
                <a:sym typeface="Arial"/>
              </a:rPr>
              <a:t> </a:t>
            </a:r>
            <a:endParaRPr b="1" sz="22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Uma pseudo-classe  é uma palavra-chave adicionada aos seletores que especifica um estado especial do elemento selecionado. 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Por exemplo, </a:t>
            </a:r>
            <a:r>
              <a:rPr lang="pt-BR" sz="1800">
                <a:solidFill>
                  <a:srgbClr val="00FFF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:hover</a:t>
            </a:r>
            <a:r>
              <a:rPr lang="pt-BR" sz="1800">
                <a:solidFill>
                  <a:srgbClr val="00FFFF"/>
                </a:solidFill>
              </a:rPr>
              <a:t> </a:t>
            </a:r>
            <a:r>
              <a:rPr lang="pt-BR" sz="1800"/>
              <a:t>pode ser usado para alterar a cor de um link quando o usuário passar o cursor sobre ele.</a:t>
            </a:r>
            <a:endParaRPr sz="1800"/>
          </a:p>
        </p:txBody>
      </p:sp>
      <p:pic>
        <p:nvPicPr>
          <p:cNvPr id="358" name="Google Shape;358;p47"/>
          <p:cNvPicPr preferRelativeResize="0"/>
          <p:nvPr/>
        </p:nvPicPr>
        <p:blipFill rotWithShape="1">
          <a:blip r:embed="rId4">
            <a:alphaModFix/>
          </a:blip>
          <a:srcRect b="0" l="0" r="0" t="51728"/>
          <a:stretch/>
        </p:blipFill>
        <p:spPr>
          <a:xfrm>
            <a:off x="3687375" y="4019675"/>
            <a:ext cx="2409825" cy="84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Cascata</a:t>
            </a:r>
            <a:endParaRPr sz="3000"/>
          </a:p>
        </p:txBody>
      </p:sp>
      <p:sp>
        <p:nvSpPr>
          <p:cNvPr id="364" name="Google Shape;364;p48"/>
          <p:cNvSpPr txBox="1"/>
          <p:nvPr>
            <p:ph idx="1" type="body"/>
          </p:nvPr>
        </p:nvSpPr>
        <p:spPr>
          <a:xfrm>
            <a:off x="978950" y="1626225"/>
            <a:ext cx="71046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00FFFF"/>
                </a:solidFill>
              </a:rPr>
              <a:t>Por que CSS* tem cascata no nome?</a:t>
            </a:r>
            <a:endParaRPr sz="3000">
              <a:solidFill>
                <a:srgbClr val="00FF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*C</a:t>
            </a:r>
            <a:r>
              <a:rPr i="1" lang="pt-BR" sz="1800">
                <a:latin typeface="Roboto"/>
                <a:ea typeface="Roboto"/>
                <a:cs typeface="Roboto"/>
                <a:sym typeface="Roboto"/>
              </a:rPr>
              <a:t>ascading </a:t>
            </a:r>
            <a:r>
              <a:rPr i="1" lang="pt-BR" sz="18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i="1" lang="pt-BR" sz="1800">
                <a:latin typeface="Roboto"/>
                <a:ea typeface="Roboto"/>
                <a:cs typeface="Roboto"/>
                <a:sym typeface="Roboto"/>
              </a:rPr>
              <a:t>tyle </a:t>
            </a:r>
            <a:r>
              <a:rPr i="1" lang="pt-BR" sz="18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i="1" lang="pt-BR" sz="1800">
                <a:latin typeface="Roboto"/>
                <a:ea typeface="Roboto"/>
                <a:cs typeface="Roboto"/>
                <a:sym typeface="Roboto"/>
              </a:rPr>
              <a:t>heets</a:t>
            </a: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 (CSS) - Folhas de Estilo em Cascata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B6D7A8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solidFill>
                <a:srgbClr val="B6D7A8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8850" y="3014088"/>
            <a:ext cx="2667000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Cascata</a:t>
            </a:r>
            <a:endParaRPr sz="3000"/>
          </a:p>
        </p:txBody>
      </p:sp>
      <p:sp>
        <p:nvSpPr>
          <p:cNvPr id="371" name="Google Shape;371;p49"/>
          <p:cNvSpPr txBox="1"/>
          <p:nvPr>
            <p:ph idx="1" type="body"/>
          </p:nvPr>
        </p:nvSpPr>
        <p:spPr>
          <a:xfrm>
            <a:off x="978950" y="1101325"/>
            <a:ext cx="7104600" cy="14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O </a:t>
            </a:r>
            <a:r>
              <a:rPr i="1" lang="pt-BR" sz="2000">
                <a:solidFill>
                  <a:srgbClr val="00FFFF"/>
                </a:solidFill>
              </a:rPr>
              <a:t>Cascading</a:t>
            </a:r>
            <a:r>
              <a:rPr lang="pt-BR" sz="2000"/>
              <a:t> quer dizer que a maioria das propriedades que aplicamos a um elemento, irá passar aos seus herdeiros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pt-BR" sz="2000"/>
              <a:t>Herdeiros são os elementos contidos em outro elemento</a:t>
            </a:r>
            <a:endParaRPr sz="2000"/>
          </a:p>
        </p:txBody>
      </p:sp>
      <p:sp>
        <p:nvSpPr>
          <p:cNvPr id="372" name="Google Shape;372;p49"/>
          <p:cNvSpPr txBox="1"/>
          <p:nvPr>
            <p:ph type="title"/>
          </p:nvPr>
        </p:nvSpPr>
        <p:spPr>
          <a:xfrm>
            <a:off x="1052550" y="24195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</a:t>
            </a:r>
            <a:endParaRPr/>
          </a:p>
        </p:txBody>
      </p:sp>
      <p:pic>
        <p:nvPicPr>
          <p:cNvPr id="373" name="Google Shape;37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8250" y="3014100"/>
            <a:ext cx="4238625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9"/>
          <p:cNvSpPr txBox="1"/>
          <p:nvPr/>
        </p:nvSpPr>
        <p:spPr>
          <a:xfrm>
            <a:off x="2499575" y="4339150"/>
            <a:ext cx="1603800" cy="49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0000"/>
                </a:solidFill>
              </a:rPr>
              <a:t>Este é um teste!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375" name="Google Shape;375;p49"/>
          <p:cNvCxnSpPr/>
          <p:nvPr/>
        </p:nvCxnSpPr>
        <p:spPr>
          <a:xfrm flipH="1" rot="10800000">
            <a:off x="6596075" y="2876550"/>
            <a:ext cx="731100" cy="6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6" name="Google Shape;376;p49"/>
          <p:cNvSpPr txBox="1"/>
          <p:nvPr/>
        </p:nvSpPr>
        <p:spPr>
          <a:xfrm>
            <a:off x="6454825" y="2419525"/>
            <a:ext cx="2028000" cy="4569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5F06"/>
                </a:solidFill>
              </a:rPr>
              <a:t>color</a:t>
            </a:r>
            <a:r>
              <a:rPr lang="pt-BR"/>
              <a:t> está em </a:t>
            </a:r>
            <a:r>
              <a:rPr b="1" lang="pt-BR">
                <a:solidFill>
                  <a:srgbClr val="38761D"/>
                </a:solidFill>
              </a:rPr>
              <a:t>&lt;div&gt;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377" name="Google Shape;377;p49"/>
          <p:cNvSpPr txBox="1"/>
          <p:nvPr/>
        </p:nvSpPr>
        <p:spPr>
          <a:xfrm>
            <a:off x="6499200" y="4109175"/>
            <a:ext cx="1983600" cy="8364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Mesmo assim a propriedade passa para a tag</a:t>
            </a:r>
            <a:r>
              <a:rPr lang="pt-BR">
                <a:solidFill>
                  <a:srgbClr val="274E13"/>
                </a:solidFill>
              </a:rPr>
              <a:t> </a:t>
            </a:r>
            <a:r>
              <a:rPr b="1" lang="pt-BR">
                <a:solidFill>
                  <a:srgbClr val="38761D"/>
                </a:solidFill>
              </a:rPr>
              <a:t>&lt;p&gt;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378" name="Google Shape;378;p49"/>
          <p:cNvCxnSpPr/>
          <p:nvPr/>
        </p:nvCxnSpPr>
        <p:spPr>
          <a:xfrm rot="10800000">
            <a:off x="4103400" y="4546750"/>
            <a:ext cx="2395800" cy="3000"/>
          </a:xfrm>
          <a:prstGeom prst="straightConnector1">
            <a:avLst/>
          </a:prstGeom>
          <a:noFill/>
          <a:ln cap="flat" cmpd="sng" w="38100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0"/>
          <p:cNvSpPr txBox="1"/>
          <p:nvPr>
            <p:ph idx="4294967295" type="title"/>
          </p:nvPr>
        </p:nvSpPr>
        <p:spPr>
          <a:xfrm rot="-5400000">
            <a:off x="-3278125" y="1154000"/>
            <a:ext cx="7038900" cy="5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- </a:t>
            </a:r>
            <a:r>
              <a:rPr lang="pt-BR">
                <a:solidFill>
                  <a:srgbClr val="00FFFF"/>
                </a:solidFill>
              </a:rPr>
              <a:t>CSS </a:t>
            </a:r>
            <a:r>
              <a:rPr i="1" lang="pt-BR">
                <a:solidFill>
                  <a:srgbClr val="00FFFF"/>
                </a:solidFill>
              </a:rPr>
              <a:t>Linkado</a:t>
            </a:r>
            <a:endParaRPr i="1">
              <a:solidFill>
                <a:srgbClr val="00FFFF"/>
              </a:solidFill>
            </a:endParaRPr>
          </a:p>
        </p:txBody>
      </p:sp>
      <p:pic>
        <p:nvPicPr>
          <p:cNvPr id="384" name="Google Shape;38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075" y="443300"/>
            <a:ext cx="3082194" cy="47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275" y="993225"/>
            <a:ext cx="5472749" cy="200504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0"/>
          <p:cNvSpPr txBox="1"/>
          <p:nvPr/>
        </p:nvSpPr>
        <p:spPr>
          <a:xfrm>
            <a:off x="540100" y="62300"/>
            <a:ext cx="2832300" cy="38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</a:rPr>
              <a:t>Arquivo: </a:t>
            </a:r>
            <a:r>
              <a:rPr i="1" lang="pt-BR">
                <a:solidFill>
                  <a:srgbClr val="00FFFF"/>
                </a:solidFill>
              </a:rPr>
              <a:t>meuestilo.css</a:t>
            </a:r>
            <a:endParaRPr i="1">
              <a:solidFill>
                <a:srgbClr val="00FFFF"/>
              </a:solidFill>
            </a:endParaRPr>
          </a:p>
        </p:txBody>
      </p:sp>
      <p:sp>
        <p:nvSpPr>
          <p:cNvPr id="387" name="Google Shape;387;p50"/>
          <p:cNvSpPr txBox="1"/>
          <p:nvPr/>
        </p:nvSpPr>
        <p:spPr>
          <a:xfrm>
            <a:off x="3635425" y="688425"/>
            <a:ext cx="47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</a:rPr>
              <a:t>Arquivo: </a:t>
            </a:r>
            <a:r>
              <a:rPr i="1" lang="pt-BR">
                <a:solidFill>
                  <a:srgbClr val="00FFFF"/>
                </a:solidFill>
              </a:rPr>
              <a:t>home.html</a:t>
            </a:r>
            <a:endParaRPr i="1">
              <a:solidFill>
                <a:srgbClr val="00FFFF"/>
              </a:solidFill>
            </a:endParaRPr>
          </a:p>
        </p:txBody>
      </p:sp>
      <p:sp>
        <p:nvSpPr>
          <p:cNvPr id="388" name="Google Shape;388;p50"/>
          <p:cNvSpPr/>
          <p:nvPr/>
        </p:nvSpPr>
        <p:spPr>
          <a:xfrm>
            <a:off x="4399475" y="1262725"/>
            <a:ext cx="4707600" cy="1833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1"/>
          <p:cNvSpPr txBox="1"/>
          <p:nvPr>
            <p:ph type="title"/>
          </p:nvPr>
        </p:nvSpPr>
        <p:spPr>
          <a:xfrm>
            <a:off x="1147925" y="260675"/>
            <a:ext cx="70389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Exemplos</a:t>
            </a:r>
            <a:endParaRPr sz="3000"/>
          </a:p>
        </p:txBody>
      </p:sp>
      <p:sp>
        <p:nvSpPr>
          <p:cNvPr id="394" name="Google Shape;394;p51"/>
          <p:cNvSpPr txBox="1"/>
          <p:nvPr/>
        </p:nvSpPr>
        <p:spPr>
          <a:xfrm>
            <a:off x="1016225" y="1414250"/>
            <a:ext cx="7302300" cy="15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https://www.w3schools.com/css/css_examples.asp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2"/>
          <p:cNvSpPr txBox="1"/>
          <p:nvPr>
            <p:ph type="title"/>
          </p:nvPr>
        </p:nvSpPr>
        <p:spPr>
          <a:xfrm>
            <a:off x="1297500" y="2413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Exercício </a:t>
            </a:r>
            <a:endParaRPr sz="3000"/>
          </a:p>
        </p:txBody>
      </p:sp>
      <p:sp>
        <p:nvSpPr>
          <p:cNvPr id="400" name="Google Shape;400;p52"/>
          <p:cNvSpPr txBox="1"/>
          <p:nvPr/>
        </p:nvSpPr>
        <p:spPr>
          <a:xfrm>
            <a:off x="966825" y="1461150"/>
            <a:ext cx="7844400" cy="3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pt-BR" sz="2200">
                <a:solidFill>
                  <a:srgbClr val="FFFFFF"/>
                </a:solidFill>
              </a:rPr>
              <a:t>Crie uma página HTML utilizando estilos</a:t>
            </a:r>
            <a:r>
              <a:rPr lang="pt-BR" sz="2200">
                <a:solidFill>
                  <a:srgbClr val="00FFFF"/>
                </a:solidFill>
              </a:rPr>
              <a:t> CSS</a:t>
            </a:r>
            <a:endParaRPr sz="2200">
              <a:solidFill>
                <a:srgbClr val="00FFFF"/>
              </a:solidFill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pt-BR" sz="2200">
                <a:solidFill>
                  <a:srgbClr val="FFFFFF"/>
                </a:solidFill>
              </a:rPr>
              <a:t>A página deve ter:</a:t>
            </a:r>
            <a:endParaRPr sz="2200">
              <a:solidFill>
                <a:srgbClr val="FFFFFF"/>
              </a:solidFill>
            </a:endParaRPr>
          </a:p>
          <a:p>
            <a:pPr indent="-368300" lvl="1" marL="9144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200"/>
              <a:buChar char="○"/>
            </a:pPr>
            <a:r>
              <a:rPr lang="pt-BR" sz="2200">
                <a:solidFill>
                  <a:srgbClr val="FFFFFF"/>
                </a:solidFill>
              </a:rPr>
              <a:t>Regras utilizando seletores de </a:t>
            </a:r>
            <a:r>
              <a:rPr lang="pt-BR" sz="2200">
                <a:solidFill>
                  <a:srgbClr val="00FFFF"/>
                </a:solidFill>
              </a:rPr>
              <a:t>classe</a:t>
            </a:r>
            <a:r>
              <a:rPr lang="pt-BR" sz="2200">
                <a:solidFill>
                  <a:srgbClr val="FFFFFF"/>
                </a:solidFill>
              </a:rPr>
              <a:t>,</a:t>
            </a:r>
            <a:r>
              <a:rPr lang="pt-BR" sz="2200">
                <a:solidFill>
                  <a:srgbClr val="00FFFF"/>
                </a:solidFill>
              </a:rPr>
              <a:t> id </a:t>
            </a:r>
            <a:r>
              <a:rPr lang="pt-BR" sz="2200">
                <a:solidFill>
                  <a:srgbClr val="FFFFFF"/>
                </a:solidFill>
              </a:rPr>
              <a:t>e </a:t>
            </a:r>
            <a:r>
              <a:rPr lang="pt-BR" sz="2200">
                <a:solidFill>
                  <a:srgbClr val="00FFFF"/>
                </a:solidFill>
              </a:rPr>
              <a:t>tag</a:t>
            </a:r>
            <a:endParaRPr sz="2200">
              <a:solidFill>
                <a:srgbClr val="FFFFFF"/>
              </a:solidFill>
            </a:endParaRPr>
          </a:p>
          <a:p>
            <a:pPr indent="-368300" lvl="1" marL="9144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200"/>
              <a:buChar char="○"/>
            </a:pPr>
            <a:r>
              <a:rPr lang="pt-BR" sz="2200">
                <a:solidFill>
                  <a:srgbClr val="FFFFFF"/>
                </a:solidFill>
              </a:rPr>
              <a:t>Regras definidas em um arquivo </a:t>
            </a:r>
            <a:r>
              <a:rPr i="1" lang="pt-BR" sz="2200">
                <a:solidFill>
                  <a:srgbClr val="FFFFFF"/>
                </a:solidFill>
              </a:rPr>
              <a:t>.css</a:t>
            </a:r>
            <a:r>
              <a:rPr lang="pt-BR" sz="2200">
                <a:solidFill>
                  <a:srgbClr val="FFFFFF"/>
                </a:solidFill>
              </a:rPr>
              <a:t> separado (</a:t>
            </a:r>
            <a:r>
              <a:rPr i="1" lang="pt-BR" sz="2200">
                <a:solidFill>
                  <a:srgbClr val="00FFFF"/>
                </a:solidFill>
              </a:rPr>
              <a:t>linkado</a:t>
            </a:r>
            <a:r>
              <a:rPr lang="pt-BR" sz="2200">
                <a:solidFill>
                  <a:srgbClr val="FFFFFF"/>
                </a:solidFill>
              </a:rPr>
              <a:t>).</a:t>
            </a:r>
            <a:endParaRPr sz="2200">
              <a:solidFill>
                <a:srgbClr val="FFFFFF"/>
              </a:solidFill>
            </a:endParaRPr>
          </a:p>
          <a:p>
            <a:pPr indent="-368300" lvl="1" marL="9144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200"/>
              <a:buChar char="○"/>
            </a:pPr>
            <a:r>
              <a:rPr lang="pt-BR" sz="2200">
                <a:solidFill>
                  <a:srgbClr val="FFFFFF"/>
                </a:solidFill>
              </a:rPr>
              <a:t>Regras utilizando pseudo-classes “ </a:t>
            </a:r>
            <a:r>
              <a:rPr b="1" lang="pt-BR" sz="2200">
                <a:solidFill>
                  <a:srgbClr val="00FFFF"/>
                </a:solidFill>
              </a:rPr>
              <a:t>:</a:t>
            </a:r>
            <a:r>
              <a:rPr lang="pt-BR" sz="2200">
                <a:solidFill>
                  <a:srgbClr val="FFFFFF"/>
                </a:solidFill>
              </a:rPr>
              <a:t> ” (Ex.: </a:t>
            </a:r>
            <a:r>
              <a:rPr i="1" lang="pt-BR" sz="2200">
                <a:solidFill>
                  <a:srgbClr val="00FFFF"/>
                </a:solidFill>
              </a:rPr>
              <a:t>div:hover</a:t>
            </a:r>
            <a:r>
              <a:rPr lang="pt-BR" sz="2200">
                <a:solidFill>
                  <a:srgbClr val="FFFFFF"/>
                </a:solidFill>
              </a:rPr>
              <a:t>)</a:t>
            </a:r>
            <a:endParaRPr sz="2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9900"/>
                </a:solidFill>
              </a:rPr>
              <a:t>Dica: Utilize os exemplos do w3schools como inspiração!</a:t>
            </a:r>
            <a:endParaRPr sz="2200">
              <a:solidFill>
                <a:srgbClr val="FF9900"/>
              </a:solidFill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Vá além!</a:t>
            </a:r>
            <a:endParaRPr/>
          </a:p>
        </p:txBody>
      </p:sp>
      <p:sp>
        <p:nvSpPr>
          <p:cNvPr id="406" name="Google Shape;406;p5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/>
              <a:t>Dê</a:t>
            </a:r>
            <a:r>
              <a:rPr lang="pt-BR" sz="2700"/>
              <a:t> uma olhada nos </a:t>
            </a:r>
            <a:r>
              <a:rPr lang="pt-BR" sz="2700"/>
              <a:t>tópicos</a:t>
            </a:r>
            <a:r>
              <a:rPr lang="pt-BR" sz="2700"/>
              <a:t> </a:t>
            </a:r>
            <a:r>
              <a:rPr lang="pt-BR" sz="2700"/>
              <a:t>avançados</a:t>
            </a:r>
            <a:r>
              <a:rPr lang="pt-BR" sz="2700"/>
              <a:t> de CSS.</a:t>
            </a:r>
            <a:endParaRPr sz="2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https://www.w3schools.com/css/default.asp</a:t>
            </a:r>
            <a:endParaRPr sz="27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Não esqueçam de marcar presença!</a:t>
            </a:r>
            <a:endParaRPr/>
          </a:p>
        </p:txBody>
      </p:sp>
      <p:sp>
        <p:nvSpPr>
          <p:cNvPr id="412" name="Google Shape;412;p5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5"/>
          <p:cNvSpPr txBox="1"/>
          <p:nvPr>
            <p:ph idx="1" type="body"/>
          </p:nvPr>
        </p:nvSpPr>
        <p:spPr>
          <a:xfrm>
            <a:off x="812725" y="42291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Material desenvolvido por: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Danilo Périco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Isaac de Jesus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Fagner Pimentel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Fontes: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https://www.w3schools.com/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