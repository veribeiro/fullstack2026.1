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f2a3ae584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f2a3ae584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58c3136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e58c3136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c27ae39808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c27ae39808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c27ae39808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c27ae39808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c27ae39808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c27ae39808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c27ae39808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c27ae39808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36e6f0a1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d36e6f0a1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7349c05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7349c05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c27ae39808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c27ae39808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c27ae39808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c27ae39808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c27ae39808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c27ae39808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c27ae39808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c27ae39808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c27ae39808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c27ae39808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c27ae39808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c27ae39808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c27ae39808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c27ae39808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c27ae39808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c27ae39808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c27ae39808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c27ae39808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c27ae39808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c27ae39808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c27ae39808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c27ae39808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c27ae39808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c27ae39808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c27ae39808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c27ae39808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c27ae39808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c27ae39808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c27ae39808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c27ae39808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c27ae39808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c27ae39808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c27ae39808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c27ae39808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c27ae39808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c27ae39808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c27ae39808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c27ae39808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c27ae39808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c27ae39808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e58c31361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e58c31361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917f0888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917f0888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66" name="Google Shape;66;p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8" name="Google Shape;88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5" name="Google Shape;95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3" name="Google Shape;103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9" name="Google Shape;109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16" name="Google Shape;116;p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1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8" name="Google Shape;138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2" name="Google Shape;142;p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46" name="Google Shape;146;p2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52" name="Google Shape;152;p2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2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gif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uV_rFI2sRHJVfP2OnUNc3XBtlfdu8Lzs/view" TargetMode="External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gif"/><Relationship Id="rId4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w3schools.com/css/css_examples.asp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w3school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ctrTitle"/>
          </p:nvPr>
        </p:nvSpPr>
        <p:spPr>
          <a:xfrm>
            <a:off x="379200" y="3183225"/>
            <a:ext cx="83856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CC1620 - Desenvolvimento Web</a:t>
            </a:r>
            <a:br>
              <a:rPr lang="en" sz="3900"/>
            </a:br>
            <a:r>
              <a:rPr lang="en" sz="3900"/>
              <a:t>CCP120 - Programação Full Stack</a:t>
            </a:r>
            <a:endParaRPr sz="3900"/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 b="12185" l="23243" r="22439" t="20975"/>
          <a:stretch/>
        </p:blipFill>
        <p:spPr>
          <a:xfrm>
            <a:off x="7377151" y="166425"/>
            <a:ext cx="1396000" cy="121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Não esqueçam de marcar presença!</a:t>
            </a:r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Continuação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25" y="952500"/>
            <a:ext cx="5154775" cy="386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Borda nos elementos</a:t>
            </a:r>
            <a:endParaRPr sz="3000"/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25" y="1069650"/>
            <a:ext cx="3755101" cy="3934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9"/>
          <p:cNvPicPr preferRelativeResize="0"/>
          <p:nvPr/>
        </p:nvPicPr>
        <p:blipFill rotWithShape="1">
          <a:blip r:embed="rId4">
            <a:alphaModFix/>
          </a:blip>
          <a:srcRect b="13344" l="0" r="0" t="11901"/>
          <a:stretch/>
        </p:blipFill>
        <p:spPr>
          <a:xfrm>
            <a:off x="4713925" y="1984050"/>
            <a:ext cx="4169300" cy="25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9"/>
          <p:cNvSpPr/>
          <p:nvPr/>
        </p:nvSpPr>
        <p:spPr>
          <a:xfrm>
            <a:off x="5182606" y="2290350"/>
            <a:ext cx="162900" cy="2229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4480600" y="2970593"/>
            <a:ext cx="8298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Classes criadas no HTML</a:t>
            </a:r>
            <a:endParaRPr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4732799" y="1681912"/>
            <a:ext cx="3755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css</a:t>
            </a: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em arquivo externo (</a:t>
            </a: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linkado</a:t>
            </a: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Borda nos elementos</a:t>
            </a:r>
            <a:endParaRPr sz="3000"/>
          </a:p>
        </p:txBody>
      </p:sp>
      <p:sp>
        <p:nvSpPr>
          <p:cNvPr id="212" name="Google Shape;212;p30"/>
          <p:cNvSpPr txBox="1"/>
          <p:nvPr/>
        </p:nvSpPr>
        <p:spPr>
          <a:xfrm>
            <a:off x="1145425" y="1189175"/>
            <a:ext cx="76107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i="1" lang="en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Borda sólida</a:t>
            </a:r>
            <a:endParaRPr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325" y="1791913"/>
            <a:ext cx="4006025" cy="22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/>
        </p:nvPicPr>
        <p:blipFill rotWithShape="1">
          <a:blip r:embed="rId4">
            <a:alphaModFix/>
          </a:blip>
          <a:srcRect b="0" l="1244" r="0" t="0"/>
          <a:stretch/>
        </p:blipFill>
        <p:spPr>
          <a:xfrm>
            <a:off x="5880150" y="733600"/>
            <a:ext cx="2965450" cy="41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0"/>
          <p:cNvSpPr/>
          <p:nvPr/>
        </p:nvSpPr>
        <p:spPr>
          <a:xfrm>
            <a:off x="6114825" y="1408100"/>
            <a:ext cx="2730900" cy="23013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 txBox="1"/>
          <p:nvPr/>
        </p:nvSpPr>
        <p:spPr>
          <a:xfrm>
            <a:off x="4231975" y="4494450"/>
            <a:ext cx="1437600" cy="4098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css incorporado</a:t>
            </a:r>
            <a:endParaRPr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7" name="Google Shape;217;p30"/>
          <p:cNvCxnSpPr/>
          <p:nvPr/>
        </p:nvCxnSpPr>
        <p:spPr>
          <a:xfrm flipH="1" rot="10800000">
            <a:off x="4957125" y="3263250"/>
            <a:ext cx="1157700" cy="12312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Borda nos elementos</a:t>
            </a:r>
            <a:endParaRPr sz="3000"/>
          </a:p>
        </p:txBody>
      </p:sp>
      <p:sp>
        <p:nvSpPr>
          <p:cNvPr id="223" name="Google Shape;223;p31"/>
          <p:cNvSpPr txBox="1"/>
          <p:nvPr/>
        </p:nvSpPr>
        <p:spPr>
          <a:xfrm>
            <a:off x="1145425" y="1189175"/>
            <a:ext cx="76107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i="1" lang="en" sz="19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Outras propriedade de borda</a:t>
            </a:r>
            <a:endParaRPr i="1" sz="19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1900"/>
              <a:buFont typeface="Roboto"/>
              <a:buChar char="○"/>
            </a:pPr>
            <a:r>
              <a:rPr i="1" lang="en" sz="19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Border-radius - Esta propriedade permite arredondar as bordas de um elemento.</a:t>
            </a:r>
            <a:endParaRPr i="1" sz="19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2" marL="13716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rgbClr val="00FFFF"/>
              </a:buClr>
              <a:buSzPts val="2300"/>
              <a:buFont typeface="Roboto"/>
              <a:buChar char="■"/>
            </a:pPr>
            <a:r>
              <a:rPr lang="en" sz="9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border-radius</a:t>
            </a:r>
            <a:r>
              <a:rPr lang="en" sz="9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20px;</a:t>
            </a:r>
            <a:endParaRPr i="1" sz="23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900"/>
              <a:buFont typeface="Roboto"/>
              <a:buChar char="○"/>
            </a:pPr>
            <a:r>
              <a:rPr i="1" lang="en" sz="19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i="1" lang="en" sz="19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ox-shadow: - Esta propriedade permite aplicar efeito de sombra em um elemento.</a:t>
            </a:r>
            <a:endParaRPr i="1" sz="19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FFFF"/>
              </a:buClr>
              <a:buSzPts val="2300"/>
              <a:buFont typeface="Roboto"/>
              <a:buChar char="■"/>
            </a:pPr>
            <a:r>
              <a:rPr lang="en" sz="9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box-shadow</a:t>
            </a:r>
            <a:r>
              <a:rPr lang="en" sz="9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10px 20px grey;</a:t>
            </a:r>
            <a:endParaRPr i="1" sz="23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</a:t>
            </a:r>
            <a:r>
              <a:rPr lang="en"/>
              <a:t>, border</a:t>
            </a:r>
            <a:r>
              <a:rPr lang="en"/>
              <a:t>, padding, width, height</a:t>
            </a:r>
            <a:endParaRPr/>
          </a:p>
        </p:txBody>
      </p:sp>
      <p:pic>
        <p:nvPicPr>
          <p:cNvPr id="229" name="Google Shape;2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9400" y="1231650"/>
            <a:ext cx="3945200" cy="33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919325" y="1128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Margin, border, padding, width, height</a:t>
            </a:r>
            <a:endParaRPr sz="2700"/>
          </a:p>
        </p:txBody>
      </p:sp>
      <p:pic>
        <p:nvPicPr>
          <p:cNvPr id="235" name="Google Shape;23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525" y="775700"/>
            <a:ext cx="4333999" cy="25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777" y="1189738"/>
            <a:ext cx="3680806" cy="38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/>
          <p:nvPr/>
        </p:nvSpPr>
        <p:spPr>
          <a:xfrm>
            <a:off x="477175" y="1200000"/>
            <a:ext cx="3680700" cy="38673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8617" y="3540225"/>
            <a:ext cx="2651425" cy="14406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Propriedade de exibição - display</a:t>
            </a:r>
            <a:endParaRPr sz="3000"/>
          </a:p>
        </p:txBody>
      </p:sp>
      <p:sp>
        <p:nvSpPr>
          <p:cNvPr id="244" name="Google Shape;244;p34"/>
          <p:cNvSpPr txBox="1"/>
          <p:nvPr/>
        </p:nvSpPr>
        <p:spPr>
          <a:xfrm>
            <a:off x="1145425" y="1189175"/>
            <a:ext cx="73464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"/>
              <a:buChar char="●"/>
            </a:pP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display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é uma propriedade importante para controlar o layout.</a:t>
            </a:r>
            <a:endParaRPr i="1" sz="2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"/>
              <a:buChar char="●"/>
            </a:pP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display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específica como um elemento será exibido.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Cada elemento do HTML tem um valor de exibição padrão. O valor de exibição padrão para a maioria dos elementos é 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block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ou 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inline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Propriedade de exibição - display</a:t>
            </a:r>
            <a:endParaRPr sz="3000"/>
          </a:p>
        </p:txBody>
      </p:sp>
      <p:sp>
        <p:nvSpPr>
          <p:cNvPr id="250" name="Google Shape;250;p35"/>
          <p:cNvSpPr txBox="1"/>
          <p:nvPr/>
        </p:nvSpPr>
        <p:spPr>
          <a:xfrm>
            <a:off x="968200" y="1189175"/>
            <a:ext cx="80145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valor de exibição padrão para a maioria dos elementos é </a:t>
            </a:r>
            <a:r>
              <a:rPr i="1" lang="en" sz="17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block</a:t>
            </a: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ou </a:t>
            </a:r>
            <a:r>
              <a:rPr i="1" lang="en" sz="17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inline</a:t>
            </a: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Alguns elementos com exibição </a:t>
            </a:r>
            <a:r>
              <a:rPr i="1" lang="en" sz="17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block</a:t>
            </a: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&lt;div&gt;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&lt;h1&gt; - &lt;h6&gt;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&lt;p&gt;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&lt;form&gt;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&lt;header&gt;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&lt;footer&gt;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&lt;section&gt;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1" name="Google Shape;25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547" y="2413297"/>
            <a:ext cx="2626825" cy="25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5"/>
          <p:cNvSpPr/>
          <p:nvPr/>
        </p:nvSpPr>
        <p:spPr>
          <a:xfrm>
            <a:off x="3171375" y="2413300"/>
            <a:ext cx="2626800" cy="2582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2550" y="2659975"/>
            <a:ext cx="3126600" cy="18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Propriedade de exibição - display</a:t>
            </a:r>
            <a:endParaRPr sz="3000"/>
          </a:p>
        </p:txBody>
      </p:sp>
      <p:sp>
        <p:nvSpPr>
          <p:cNvPr id="259" name="Google Shape;259;p36"/>
          <p:cNvSpPr txBox="1"/>
          <p:nvPr/>
        </p:nvSpPr>
        <p:spPr>
          <a:xfrm>
            <a:off x="1145425" y="1189175"/>
            <a:ext cx="7723500" cy="24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valor de exibição padrão para a maioria dos elementos é </a:t>
            </a:r>
            <a:r>
              <a:rPr i="1" lang="en" sz="17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block</a:t>
            </a: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ou </a:t>
            </a:r>
            <a:r>
              <a:rPr i="1" lang="en" sz="17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inline</a:t>
            </a: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Alguns elementos com exibição </a:t>
            </a:r>
            <a:r>
              <a:rPr i="1" lang="en" sz="17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inline</a:t>
            </a:r>
            <a:r>
              <a:rPr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&lt;span&gt; (parece &lt;div&gt;, mas sendo </a:t>
            </a:r>
            <a:r>
              <a:rPr i="1" lang="en" sz="17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inline</a:t>
            </a: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&lt;a&gt;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○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&lt;img&gt;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0" name="Google Shape;26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850" y="2693971"/>
            <a:ext cx="3095325" cy="178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3775" y="2693975"/>
            <a:ext cx="2854125" cy="21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6"/>
          <p:cNvSpPr/>
          <p:nvPr/>
        </p:nvSpPr>
        <p:spPr>
          <a:xfrm>
            <a:off x="2973775" y="2693975"/>
            <a:ext cx="2824500" cy="2176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Propriedade de exibição - display</a:t>
            </a:r>
            <a:endParaRPr sz="3000"/>
          </a:p>
        </p:txBody>
      </p:sp>
      <p:sp>
        <p:nvSpPr>
          <p:cNvPr id="268" name="Google Shape;268;p37"/>
          <p:cNvSpPr txBox="1"/>
          <p:nvPr/>
        </p:nvSpPr>
        <p:spPr>
          <a:xfrm>
            <a:off x="1145425" y="1189175"/>
            <a:ext cx="7346400" cy="2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"/>
              <a:buChar char="●"/>
            </a:pP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display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específica como um elemento será exibido.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Exemplo 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display </a:t>
            </a:r>
            <a:r>
              <a:rPr i="1"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block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9" name="Google Shape;26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325" y="2632097"/>
            <a:ext cx="3444525" cy="198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2332897"/>
            <a:ext cx="3243425" cy="25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7"/>
          <p:cNvSpPr/>
          <p:nvPr/>
        </p:nvSpPr>
        <p:spPr>
          <a:xfrm>
            <a:off x="1297500" y="2332900"/>
            <a:ext cx="3243300" cy="25425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Propriedade de exibição - display</a:t>
            </a:r>
            <a:endParaRPr sz="3000"/>
          </a:p>
        </p:txBody>
      </p:sp>
      <p:sp>
        <p:nvSpPr>
          <p:cNvPr id="277" name="Google Shape;277;p38"/>
          <p:cNvSpPr txBox="1"/>
          <p:nvPr/>
        </p:nvSpPr>
        <p:spPr>
          <a:xfrm>
            <a:off x="1145425" y="1189175"/>
            <a:ext cx="7346400" cy="2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"/>
              <a:buChar char="●"/>
            </a:pP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display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específica como um elemento será exibido.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Exemplo 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display </a:t>
            </a:r>
            <a:r>
              <a:rPr i="1"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inline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850" y="2235725"/>
            <a:ext cx="2702625" cy="27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8"/>
          <p:cNvSpPr/>
          <p:nvPr/>
        </p:nvSpPr>
        <p:spPr>
          <a:xfrm>
            <a:off x="1678850" y="2235725"/>
            <a:ext cx="2702700" cy="26751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600" y="2504725"/>
            <a:ext cx="3726500" cy="21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Posicionando elementos</a:t>
            </a:r>
            <a:endParaRPr sz="3000"/>
          </a:p>
        </p:txBody>
      </p:sp>
      <p:sp>
        <p:nvSpPr>
          <p:cNvPr id="286" name="Google Shape;286;p39"/>
          <p:cNvSpPr txBox="1"/>
          <p:nvPr/>
        </p:nvSpPr>
        <p:spPr>
          <a:xfrm>
            <a:off x="1145425" y="1189175"/>
            <a:ext cx="76107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i="1" lang="en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Relativo e Absoluto</a:t>
            </a:r>
            <a:endParaRPr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7" name="Google Shape;2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00" y="2000025"/>
            <a:ext cx="3911946" cy="28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525" y="2000035"/>
            <a:ext cx="3819600" cy="282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Posicionando elementos</a:t>
            </a:r>
            <a:endParaRPr sz="3000"/>
          </a:p>
        </p:txBody>
      </p:sp>
      <p:sp>
        <p:nvSpPr>
          <p:cNvPr id="294" name="Google Shape;294;p40"/>
          <p:cNvSpPr txBox="1"/>
          <p:nvPr/>
        </p:nvSpPr>
        <p:spPr>
          <a:xfrm>
            <a:off x="1145425" y="1189175"/>
            <a:ext cx="76107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i="1" lang="en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Absoluto</a:t>
            </a:r>
            <a:endParaRPr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5" name="Google Shape;29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025" y="1722075"/>
            <a:ext cx="4441600" cy="24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0750" y="987900"/>
            <a:ext cx="259080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3888" y="4264488"/>
            <a:ext cx="27527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/>
          <p:nvPr/>
        </p:nvSpPr>
        <p:spPr>
          <a:xfrm>
            <a:off x="6110750" y="1564550"/>
            <a:ext cx="2590800" cy="3230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0"/>
          <p:cNvSpPr txBox="1"/>
          <p:nvPr/>
        </p:nvSpPr>
        <p:spPr>
          <a:xfrm>
            <a:off x="4610500" y="1189175"/>
            <a:ext cx="1437600" cy="4098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css incorporado</a:t>
            </a:r>
            <a:endParaRPr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0" name="Google Shape;300;p40"/>
          <p:cNvCxnSpPr/>
          <p:nvPr/>
        </p:nvCxnSpPr>
        <p:spPr>
          <a:xfrm>
            <a:off x="5691650" y="1610300"/>
            <a:ext cx="390600" cy="3585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40"/>
          <p:cNvSpPr/>
          <p:nvPr/>
        </p:nvSpPr>
        <p:spPr>
          <a:xfrm>
            <a:off x="2654813" y="4264463"/>
            <a:ext cx="2730900" cy="7716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2" name="Google Shape;302;p40"/>
          <p:cNvCxnSpPr>
            <a:endCxn id="301" idx="1"/>
          </p:cNvCxnSpPr>
          <p:nvPr/>
        </p:nvCxnSpPr>
        <p:spPr>
          <a:xfrm flipH="1" rot="10800000">
            <a:off x="2131613" y="4650263"/>
            <a:ext cx="523200" cy="891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40"/>
          <p:cNvSpPr txBox="1"/>
          <p:nvPr/>
        </p:nvSpPr>
        <p:spPr>
          <a:xfrm>
            <a:off x="358550" y="4387300"/>
            <a:ext cx="1773300" cy="5583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Tag div e class </a:t>
            </a:r>
            <a:r>
              <a:rPr i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absolute</a:t>
            </a:r>
            <a:endParaRPr i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Posicionando elementos</a:t>
            </a:r>
            <a:endParaRPr sz="3000"/>
          </a:p>
        </p:txBody>
      </p:sp>
      <p:sp>
        <p:nvSpPr>
          <p:cNvPr id="309" name="Google Shape;309;p41"/>
          <p:cNvSpPr txBox="1"/>
          <p:nvPr/>
        </p:nvSpPr>
        <p:spPr>
          <a:xfrm>
            <a:off x="1145425" y="1189175"/>
            <a:ext cx="761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i="1" lang="en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Absoluto</a:t>
            </a:r>
            <a:endParaRPr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0" name="Google Shape;31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925" y="48625"/>
            <a:ext cx="2669600" cy="50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1"/>
          <p:cNvSpPr/>
          <p:nvPr/>
        </p:nvSpPr>
        <p:spPr>
          <a:xfrm>
            <a:off x="6355950" y="48625"/>
            <a:ext cx="2669700" cy="49869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73175"/>
            <a:ext cx="6051125" cy="2202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Posicionando elementos</a:t>
            </a:r>
            <a:endParaRPr sz="3000"/>
          </a:p>
        </p:txBody>
      </p:sp>
      <p:sp>
        <p:nvSpPr>
          <p:cNvPr id="318" name="Google Shape;318;p42"/>
          <p:cNvSpPr txBox="1"/>
          <p:nvPr/>
        </p:nvSpPr>
        <p:spPr>
          <a:xfrm>
            <a:off x="1145425" y="1189175"/>
            <a:ext cx="76107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i="1" lang="en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Relativo</a:t>
            </a:r>
            <a:endParaRPr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9" name="Google Shape;31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425" y="4265500"/>
            <a:ext cx="27622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200" y="1809863"/>
            <a:ext cx="3770476" cy="232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9800" y="1084150"/>
            <a:ext cx="27051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2"/>
          <p:cNvSpPr/>
          <p:nvPr/>
        </p:nvSpPr>
        <p:spPr>
          <a:xfrm>
            <a:off x="6017025" y="1634225"/>
            <a:ext cx="2677800" cy="3230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2"/>
          <p:cNvSpPr txBox="1"/>
          <p:nvPr/>
        </p:nvSpPr>
        <p:spPr>
          <a:xfrm>
            <a:off x="4516771" y="1258856"/>
            <a:ext cx="1437600" cy="4098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css incorporado</a:t>
            </a:r>
            <a:endParaRPr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4" name="Google Shape;324;p42"/>
          <p:cNvCxnSpPr/>
          <p:nvPr/>
        </p:nvCxnSpPr>
        <p:spPr>
          <a:xfrm>
            <a:off x="5597921" y="1679981"/>
            <a:ext cx="390600" cy="3585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42"/>
          <p:cNvSpPr/>
          <p:nvPr/>
        </p:nvSpPr>
        <p:spPr>
          <a:xfrm>
            <a:off x="2382608" y="4264463"/>
            <a:ext cx="2730900" cy="7716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6" name="Google Shape;326;p42"/>
          <p:cNvCxnSpPr>
            <a:endCxn id="325" idx="1"/>
          </p:cNvCxnSpPr>
          <p:nvPr/>
        </p:nvCxnSpPr>
        <p:spPr>
          <a:xfrm flipH="1" rot="10800000">
            <a:off x="1859408" y="4650263"/>
            <a:ext cx="523200" cy="891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42"/>
          <p:cNvSpPr txBox="1"/>
          <p:nvPr/>
        </p:nvSpPr>
        <p:spPr>
          <a:xfrm>
            <a:off x="422049" y="4387300"/>
            <a:ext cx="1437600" cy="5583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Tag div e class </a:t>
            </a:r>
            <a:r>
              <a:rPr i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relative</a:t>
            </a:r>
            <a:endParaRPr i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Posicionando elementos</a:t>
            </a:r>
            <a:endParaRPr sz="3000"/>
          </a:p>
        </p:txBody>
      </p:sp>
      <p:sp>
        <p:nvSpPr>
          <p:cNvPr id="333" name="Google Shape;333;p43"/>
          <p:cNvSpPr txBox="1"/>
          <p:nvPr/>
        </p:nvSpPr>
        <p:spPr>
          <a:xfrm>
            <a:off x="1145425" y="1189175"/>
            <a:ext cx="71910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Char char="●"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Por padrão, no HTML os elementos são posicionados como</a:t>
            </a:r>
            <a:r>
              <a:rPr i="1"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static</a:t>
            </a:r>
            <a:endParaRPr i="1" sz="2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posicionamento</a:t>
            </a:r>
            <a:r>
              <a:rPr i="1"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static </a:t>
            </a:r>
            <a:r>
              <a:rPr i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 elementos não são afetados pelas propriedades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top</a:t>
            </a:r>
            <a:r>
              <a:rPr i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i="1"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bottom</a:t>
            </a:r>
            <a:r>
              <a:rPr i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i="1"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left </a:t>
            </a:r>
            <a:r>
              <a:rPr i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i="1"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i="1" sz="2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Posicionando elementos</a:t>
            </a:r>
            <a:endParaRPr sz="3000"/>
          </a:p>
        </p:txBody>
      </p:sp>
      <p:sp>
        <p:nvSpPr>
          <p:cNvPr id="339" name="Google Shape;339;p44"/>
          <p:cNvSpPr txBox="1"/>
          <p:nvPr/>
        </p:nvSpPr>
        <p:spPr>
          <a:xfrm>
            <a:off x="1145425" y="1189175"/>
            <a:ext cx="76107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FFFF"/>
              </a:buClr>
              <a:buSzPts val="2400"/>
              <a:buFont typeface="Roboto"/>
              <a:buChar char="●"/>
            </a:pPr>
            <a:r>
              <a:rPr i="1" lang="en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static</a:t>
            </a:r>
            <a:endParaRPr i="1"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163" y="4225463"/>
            <a:ext cx="30575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625" y="1688374"/>
            <a:ext cx="4394075" cy="242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4"/>
          <p:cNvPicPr preferRelativeResize="0"/>
          <p:nvPr/>
        </p:nvPicPr>
        <p:blipFill rotWithShape="1">
          <a:blip r:embed="rId5">
            <a:alphaModFix/>
          </a:blip>
          <a:srcRect b="0" l="1215" r="0" t="0"/>
          <a:stretch/>
        </p:blipFill>
        <p:spPr>
          <a:xfrm>
            <a:off x="5958375" y="903550"/>
            <a:ext cx="2910000" cy="40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Posicionando elementos</a:t>
            </a:r>
            <a:endParaRPr sz="3000"/>
          </a:p>
        </p:txBody>
      </p:sp>
      <p:sp>
        <p:nvSpPr>
          <p:cNvPr id="348" name="Google Shape;348;p45"/>
          <p:cNvSpPr txBox="1"/>
          <p:nvPr/>
        </p:nvSpPr>
        <p:spPr>
          <a:xfrm>
            <a:off x="1145425" y="1264700"/>
            <a:ext cx="7191000" cy="3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Portanto, não se esqueça de definir o posicionamento como </a:t>
            </a:r>
            <a:r>
              <a:rPr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relativo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ou </a:t>
            </a:r>
            <a:r>
              <a:rPr lang="en" sz="20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absoluto</a:t>
            </a: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para mudar os elementos de posição</a:t>
            </a:r>
            <a:endParaRPr i="1" sz="20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Posicionando elementos</a:t>
            </a:r>
            <a:endParaRPr sz="3000"/>
          </a:p>
        </p:txBody>
      </p:sp>
      <p:sp>
        <p:nvSpPr>
          <p:cNvPr id="354" name="Google Shape;354;p46"/>
          <p:cNvSpPr txBox="1"/>
          <p:nvPr/>
        </p:nvSpPr>
        <p:spPr>
          <a:xfrm>
            <a:off x="1071293" y="1179975"/>
            <a:ext cx="76107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FFFF"/>
              </a:buClr>
              <a:buSzPts val="2400"/>
              <a:buFont typeface="Roboto"/>
              <a:buChar char="●"/>
            </a:pPr>
            <a:r>
              <a:rPr i="1" lang="en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fixed</a:t>
            </a:r>
            <a:endParaRPr i="1"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5" name="Google Shape;35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25" y="1751225"/>
            <a:ext cx="5014075" cy="28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1250" y="3673875"/>
            <a:ext cx="3092500" cy="116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5450" y="1682578"/>
            <a:ext cx="2680675" cy="146966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6"/>
          <p:cNvSpPr/>
          <p:nvPr/>
        </p:nvSpPr>
        <p:spPr>
          <a:xfrm>
            <a:off x="6110750" y="1682575"/>
            <a:ext cx="2590800" cy="14271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6"/>
          <p:cNvSpPr txBox="1"/>
          <p:nvPr/>
        </p:nvSpPr>
        <p:spPr>
          <a:xfrm>
            <a:off x="6110753" y="1272775"/>
            <a:ext cx="2590800" cy="409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css</a:t>
            </a:r>
            <a:endParaRPr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46"/>
          <p:cNvSpPr/>
          <p:nvPr/>
        </p:nvSpPr>
        <p:spPr>
          <a:xfrm>
            <a:off x="5882150" y="3664575"/>
            <a:ext cx="3092400" cy="1161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6"/>
          <p:cNvSpPr txBox="1"/>
          <p:nvPr/>
        </p:nvSpPr>
        <p:spPr>
          <a:xfrm>
            <a:off x="5882150" y="3293874"/>
            <a:ext cx="3092400" cy="374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class </a:t>
            </a:r>
            <a:r>
              <a:rPr i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fixed</a:t>
            </a: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- &lt;div&gt; no corpo da página</a:t>
            </a:r>
            <a:endParaRPr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Sobrepondo elementos</a:t>
            </a:r>
            <a:endParaRPr sz="3000"/>
          </a:p>
        </p:txBody>
      </p:sp>
      <p:sp>
        <p:nvSpPr>
          <p:cNvPr id="367" name="Google Shape;367;p47"/>
          <p:cNvSpPr txBox="1"/>
          <p:nvPr/>
        </p:nvSpPr>
        <p:spPr>
          <a:xfrm>
            <a:off x="1071300" y="1179975"/>
            <a:ext cx="76107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FFFF"/>
              </a:buClr>
              <a:buSzPts val="2400"/>
              <a:buFont typeface="Roboto"/>
              <a:buChar char="●"/>
            </a:pPr>
            <a:r>
              <a:rPr i="1" lang="en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z-index</a:t>
            </a:r>
            <a:endParaRPr i="1"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8" name="Google Shape;368;p47" title="javascript-developer-posted-on-linkedi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7475" y="1179975"/>
            <a:ext cx="5062158" cy="37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Sobrepondo elementos</a:t>
            </a:r>
            <a:endParaRPr sz="3000"/>
          </a:p>
        </p:txBody>
      </p:sp>
      <p:sp>
        <p:nvSpPr>
          <p:cNvPr id="374" name="Google Shape;374;p48"/>
          <p:cNvSpPr txBox="1"/>
          <p:nvPr/>
        </p:nvSpPr>
        <p:spPr>
          <a:xfrm>
            <a:off x="1071300" y="1179975"/>
            <a:ext cx="76107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FFFF"/>
              </a:buClr>
              <a:buSzPts val="2400"/>
              <a:buFont typeface="Roboto"/>
              <a:buChar char="●"/>
            </a:pPr>
            <a:r>
              <a:rPr i="1" lang="en" sz="2400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z-index</a:t>
            </a:r>
            <a:endParaRPr i="1" sz="2400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7417600" y="68700"/>
            <a:ext cx="1553700" cy="374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css</a:t>
            </a:r>
            <a:endParaRPr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3900800" y="3116375"/>
            <a:ext cx="3363000" cy="374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no corpo da página</a:t>
            </a:r>
            <a:endParaRPr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7" name="Google Shape;3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0800" y="3491073"/>
            <a:ext cx="3362900" cy="152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8"/>
          <p:cNvSpPr/>
          <p:nvPr/>
        </p:nvSpPr>
        <p:spPr>
          <a:xfrm>
            <a:off x="3900800" y="3491075"/>
            <a:ext cx="3363000" cy="15264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000" y="2009125"/>
            <a:ext cx="3596000" cy="2357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0776" y="469950"/>
            <a:ext cx="1553700" cy="459358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8"/>
          <p:cNvSpPr/>
          <p:nvPr/>
        </p:nvSpPr>
        <p:spPr>
          <a:xfrm>
            <a:off x="7417600" y="463788"/>
            <a:ext cx="1553700" cy="46059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Exemplo com pseudo-classe</a:t>
            </a:r>
            <a:endParaRPr sz="3000"/>
          </a:p>
        </p:txBody>
      </p:sp>
      <p:pic>
        <p:nvPicPr>
          <p:cNvPr id="387" name="Google Shape;3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25" y="1474500"/>
            <a:ext cx="477202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9"/>
          <p:cNvPicPr preferRelativeResize="0"/>
          <p:nvPr/>
        </p:nvPicPr>
        <p:blipFill rotWithShape="1">
          <a:blip r:embed="rId4">
            <a:alphaModFix/>
          </a:blip>
          <a:srcRect b="0" l="941" r="0" t="0"/>
          <a:stretch/>
        </p:blipFill>
        <p:spPr>
          <a:xfrm>
            <a:off x="5508575" y="1103700"/>
            <a:ext cx="3294700" cy="390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0"/>
          <p:cNvSpPr txBox="1"/>
          <p:nvPr>
            <p:ph type="title"/>
          </p:nvPr>
        </p:nvSpPr>
        <p:spPr>
          <a:xfrm>
            <a:off x="1147925" y="260675"/>
            <a:ext cx="70389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Mais exemplos</a:t>
            </a:r>
            <a:endParaRPr sz="3000"/>
          </a:p>
        </p:txBody>
      </p:sp>
      <p:sp>
        <p:nvSpPr>
          <p:cNvPr id="394" name="Google Shape;394;p50"/>
          <p:cNvSpPr txBox="1"/>
          <p:nvPr/>
        </p:nvSpPr>
        <p:spPr>
          <a:xfrm>
            <a:off x="1016225" y="1414250"/>
            <a:ext cx="73023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https://www.w3schools.com/css/css_examples.asp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 txBox="1"/>
          <p:nvPr>
            <p:ph type="title"/>
          </p:nvPr>
        </p:nvSpPr>
        <p:spPr>
          <a:xfrm>
            <a:off x="1297500" y="2413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Exercício (não é para entregar)</a:t>
            </a:r>
            <a:endParaRPr sz="3000"/>
          </a:p>
        </p:txBody>
      </p:sp>
      <p:sp>
        <p:nvSpPr>
          <p:cNvPr id="400" name="Google Shape;400;p51"/>
          <p:cNvSpPr txBox="1"/>
          <p:nvPr/>
        </p:nvSpPr>
        <p:spPr>
          <a:xfrm>
            <a:off x="966825" y="867800"/>
            <a:ext cx="7844400" cy="35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200">
                <a:solidFill>
                  <a:srgbClr val="FFFFFF"/>
                </a:solidFill>
              </a:rPr>
              <a:t>Crie um Website com apenas um dos temas abaixo:  </a:t>
            </a:r>
            <a:endParaRPr sz="2200">
              <a:solidFill>
                <a:srgbClr val="FFFFFF"/>
              </a:solidFill>
            </a:endParaRPr>
          </a:p>
          <a:p>
            <a:pPr indent="-368300" lvl="1" marL="13716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</a:pPr>
            <a:r>
              <a:rPr lang="en" sz="2200">
                <a:solidFill>
                  <a:srgbClr val="FF9900"/>
                </a:solidFill>
              </a:rPr>
              <a:t>eSports</a:t>
            </a:r>
            <a:r>
              <a:rPr lang="en" sz="2200">
                <a:solidFill>
                  <a:schemeClr val="accent6"/>
                </a:solidFill>
              </a:rPr>
              <a:t> </a:t>
            </a:r>
            <a:r>
              <a:rPr lang="en" sz="2200">
                <a:solidFill>
                  <a:srgbClr val="FFFFFF"/>
                </a:solidFill>
              </a:rPr>
              <a:t>- Esportes Eletrônicos</a:t>
            </a:r>
            <a:endParaRPr sz="2200">
              <a:solidFill>
                <a:srgbClr val="FFFFFF"/>
              </a:solidFill>
            </a:endParaRPr>
          </a:p>
          <a:p>
            <a:pPr indent="-368300" lvl="1" marL="13716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</a:pPr>
            <a:r>
              <a:rPr lang="en" sz="2200">
                <a:solidFill>
                  <a:srgbClr val="FF9900"/>
                </a:solidFill>
              </a:rPr>
              <a:t>Cloud Computing</a:t>
            </a:r>
            <a:r>
              <a:rPr lang="en" sz="2200">
                <a:solidFill>
                  <a:srgbClr val="FFFFFF"/>
                </a:solidFill>
              </a:rPr>
              <a:t> - Computação em nuvem</a:t>
            </a:r>
            <a:endParaRPr sz="2200">
              <a:solidFill>
                <a:srgbClr val="FFFFFF"/>
              </a:solidFill>
            </a:endParaRPr>
          </a:p>
          <a:p>
            <a:pPr indent="-368300" lvl="1" marL="13716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</a:pPr>
            <a:r>
              <a:rPr lang="en" sz="2200">
                <a:solidFill>
                  <a:srgbClr val="FF9900"/>
                </a:solidFill>
              </a:rPr>
              <a:t>No-code</a:t>
            </a:r>
            <a:r>
              <a:rPr lang="en" sz="2200">
                <a:solidFill>
                  <a:srgbClr val="FFFFFF"/>
                </a:solidFill>
              </a:rPr>
              <a:t> - ferramentas para criação de Apps</a:t>
            </a:r>
            <a:endParaRPr sz="2200">
              <a:solidFill>
                <a:srgbClr val="FFFFFF"/>
              </a:solidFill>
            </a:endParaRPr>
          </a:p>
          <a:p>
            <a:pPr indent="-3683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200"/>
              <a:buChar char="○"/>
            </a:pPr>
            <a:r>
              <a:rPr lang="en" sz="2200">
                <a:solidFill>
                  <a:srgbClr val="FF9900"/>
                </a:solidFill>
              </a:rPr>
              <a:t>5G</a:t>
            </a:r>
            <a:r>
              <a:rPr lang="en" sz="2200">
                <a:solidFill>
                  <a:srgbClr val="FFFFFF"/>
                </a:solidFill>
              </a:rPr>
              <a:t> - Futuro da tecnologia 5g.</a:t>
            </a:r>
            <a:endParaRPr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 txBox="1"/>
          <p:nvPr>
            <p:ph type="title"/>
          </p:nvPr>
        </p:nvSpPr>
        <p:spPr>
          <a:xfrm>
            <a:off x="1297500" y="2413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Exercício (não é para entregar)</a:t>
            </a:r>
            <a:endParaRPr sz="3000"/>
          </a:p>
        </p:txBody>
      </p:sp>
      <p:sp>
        <p:nvSpPr>
          <p:cNvPr id="406" name="Google Shape;406;p52"/>
          <p:cNvSpPr txBox="1"/>
          <p:nvPr/>
        </p:nvSpPr>
        <p:spPr>
          <a:xfrm>
            <a:off x="966825" y="1481025"/>
            <a:ext cx="78444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200">
                <a:solidFill>
                  <a:srgbClr val="FFFFFF"/>
                </a:solidFill>
              </a:rPr>
              <a:t>O website deve ter 3 páginas </a:t>
            </a:r>
            <a:r>
              <a:rPr lang="en" sz="2200">
                <a:solidFill>
                  <a:srgbClr val="00FFFF"/>
                </a:solidFill>
              </a:rPr>
              <a:t>HTML</a:t>
            </a:r>
            <a:r>
              <a:rPr lang="en" sz="2200">
                <a:solidFill>
                  <a:srgbClr val="FFFFFF"/>
                </a:solidFill>
              </a:rPr>
              <a:t> utilizando </a:t>
            </a:r>
            <a:r>
              <a:rPr lang="en" sz="2200">
                <a:solidFill>
                  <a:srgbClr val="00FFFF"/>
                </a:solidFill>
              </a:rPr>
              <a:t>CSS</a:t>
            </a:r>
            <a:endParaRPr sz="2200">
              <a:solidFill>
                <a:srgbClr val="00FFFF"/>
              </a:solidFill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200">
                <a:solidFill>
                  <a:srgbClr val="FFFFFF"/>
                </a:solidFill>
              </a:rPr>
              <a:t>O website deve ter também:</a:t>
            </a:r>
            <a:endParaRPr sz="2200"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Posicionamento dos elementos de forma </a:t>
            </a:r>
            <a:r>
              <a:rPr lang="en">
                <a:solidFill>
                  <a:srgbClr val="00FFFF"/>
                </a:solidFill>
              </a:rPr>
              <a:t>absoluta</a:t>
            </a:r>
            <a:r>
              <a:rPr lang="en">
                <a:solidFill>
                  <a:srgbClr val="FFFFFF"/>
                </a:solidFill>
              </a:rPr>
              <a:t> e </a:t>
            </a:r>
            <a:r>
              <a:rPr lang="en">
                <a:solidFill>
                  <a:srgbClr val="00FFFF"/>
                </a:solidFill>
              </a:rPr>
              <a:t>relativa</a:t>
            </a:r>
            <a:endParaRPr>
              <a:solidFill>
                <a:srgbClr val="00FFFF"/>
              </a:solidFill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Um Menu e um rodapé </a:t>
            </a:r>
            <a:r>
              <a:rPr lang="en">
                <a:solidFill>
                  <a:srgbClr val="00FFFF"/>
                </a:solidFill>
              </a:rPr>
              <a:t>fixo</a:t>
            </a:r>
            <a:r>
              <a:rPr lang="en">
                <a:solidFill>
                  <a:schemeClr val="lt1"/>
                </a:solidFill>
              </a:rPr>
              <a:t> em cada página usando </a:t>
            </a:r>
            <a:r>
              <a:rPr lang="en">
                <a:solidFill>
                  <a:srgbClr val="00FFFF"/>
                </a:solidFill>
              </a:rPr>
              <a:t>fixed</a:t>
            </a:r>
            <a:endParaRPr>
              <a:solidFill>
                <a:srgbClr val="00FFFF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Regras utilizando pseudo-classes na tag &lt;div&gt; “ </a:t>
            </a:r>
            <a:r>
              <a:rPr b="1" lang="en">
                <a:solidFill>
                  <a:srgbClr val="00FFFF"/>
                </a:solidFill>
              </a:rPr>
              <a:t>:</a:t>
            </a:r>
            <a:r>
              <a:rPr lang="en">
                <a:solidFill>
                  <a:srgbClr val="FFFFFF"/>
                </a:solidFill>
              </a:rPr>
              <a:t> ” (Ex.: </a:t>
            </a:r>
            <a:r>
              <a:rPr i="1" lang="en">
                <a:solidFill>
                  <a:srgbClr val="00FFFF"/>
                </a:solidFill>
              </a:rPr>
              <a:t>div:hover</a:t>
            </a:r>
            <a:r>
              <a:rPr lang="en">
                <a:solidFill>
                  <a:srgbClr val="FFFFFF"/>
                </a:solidFill>
              </a:rPr>
              <a:t>)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Colocar</a:t>
            </a:r>
            <a:r>
              <a:rPr lang="en">
                <a:solidFill>
                  <a:srgbClr val="00FFFF"/>
                </a:solidFill>
              </a:rPr>
              <a:t> bordas</a:t>
            </a:r>
            <a:r>
              <a:rPr lang="en">
                <a:solidFill>
                  <a:srgbClr val="FFFFFF"/>
                </a:solidFill>
              </a:rPr>
              <a:t> em alguns elementos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Criar links para outras páginas no menu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Tabelas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9900"/>
                </a:solidFill>
              </a:rPr>
              <a:t>Dica: Utilize os exemplos disponibilizados no moodle e também do site w3schools como inspiração!</a:t>
            </a:r>
            <a:endParaRPr sz="2200">
              <a:solidFill>
                <a:srgbClr val="FF9900"/>
              </a:solidFill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Não esqueçam de marcar presença!</a:t>
            </a:r>
            <a:endParaRPr/>
          </a:p>
        </p:txBody>
      </p:sp>
      <p:sp>
        <p:nvSpPr>
          <p:cNvPr id="412" name="Google Shape;412;p5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4"/>
          <p:cNvSpPr txBox="1"/>
          <p:nvPr>
            <p:ph idx="1" type="body"/>
          </p:nvPr>
        </p:nvSpPr>
        <p:spPr>
          <a:xfrm>
            <a:off x="812725" y="42291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desenvolvido por: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Danilo Périco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Isaac de Jesus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Fagner Pimentel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Fontes: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https://www.w3schools.com/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