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Lat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regular.fntdata"/><Relationship Id="rId47" Type="http://schemas.openxmlformats.org/officeDocument/2006/relationships/slide" Target="slides/slide41.xml"/><Relationship Id="rId49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7.xml"/><Relationship Id="rId57" Type="http://schemas.openxmlformats.org/officeDocument/2006/relationships/font" Target="fonts/Lato-bold.fntdata"/><Relationship Id="rId12" Type="http://schemas.openxmlformats.org/officeDocument/2006/relationships/slide" Target="slides/slide6.xml"/><Relationship Id="rId56" Type="http://schemas.openxmlformats.org/officeDocument/2006/relationships/font" Target="fonts/Lato-regular.fntdata"/><Relationship Id="rId15" Type="http://schemas.openxmlformats.org/officeDocument/2006/relationships/slide" Target="slides/slide9.xml"/><Relationship Id="rId59" Type="http://schemas.openxmlformats.org/officeDocument/2006/relationships/font" Target="fonts/Lato-boldItalic.fntdata"/><Relationship Id="rId14" Type="http://schemas.openxmlformats.org/officeDocument/2006/relationships/slide" Target="slides/slide8.xml"/><Relationship Id="rId58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2a38c0a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2a38c0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5886a63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5886a63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c27d285bd7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c27d285bd7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c27d285bd7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c27d285bd7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c27d285bd7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c27d285bd7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c27d285bd7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c27d285bd7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c27d285bd7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c27d285bd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c27d285bd7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c27d285bd7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c27d285bd7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c27d285bd7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c27d285bd7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c27d285bd7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c27d285bd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c27d285bd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c27d285bd7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c27d285bd7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c27d285bd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c27d285bd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c27d285bd7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c27d285bd7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c27d285bd7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c27d285bd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c27d285bd7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c27d285bd7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c27d285bd7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c27d285bd7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c27d285bd7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c27d285bd7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c27d285bd7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c27d285bd7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c27d285bd7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c27d285bd7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c27d285bd7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c27d285bd7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c27d285bd7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c27d285bd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c27d285bd7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c27d285bd7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c27d285bd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c27d285bd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c27d285bd7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c27d285bd7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c27d285bd7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c27d285bd7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c27d285bd7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c27d285bd7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c27d285bd7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c27d285bd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c27d285bd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c27d285bd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c27d285bd7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c27d285bd7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c27d285bd7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c27d285bd7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c27d285bd7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c27d285bd7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c27d285bd7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c27d285bd7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c27d285bd7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c27d285bd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c27d285bd7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c27d285bd7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c27d285bd7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c27d285bd7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c27d285bd7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c27d285bd7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a36bb34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2a36bb34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c27d285bd7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c27d285bd7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e5886a63d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e5886a63d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917e6ef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917e6ef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w3schools.com/css/css_rwd_intro.asp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flexboxfroggy.com/#pt-br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w3school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79200" y="3183225"/>
            <a:ext cx="8385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CC1620 - Desenvolvimento Web</a:t>
            </a:r>
            <a:br>
              <a:rPr lang="en" sz="3900"/>
            </a:br>
            <a:r>
              <a:rPr lang="en" sz="3900"/>
              <a:t>CCP120 - Programação Full Stack</a:t>
            </a:r>
            <a:endParaRPr sz="3900"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12185" l="23243" r="22439" t="20975"/>
          <a:stretch/>
        </p:blipFill>
        <p:spPr>
          <a:xfrm>
            <a:off x="7377151" y="166425"/>
            <a:ext cx="1396000" cy="121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esqueçam de marcar presença!</a:t>
            </a:r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Flexbox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197" name="Google Shape;197;p28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Flexbox 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(Flexible Box)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é um conceito do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CSS3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que visa organizar os elementos de uma página HTML dentro de seus containers de forma dinâmica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ideia do Flexbox é manter um </a:t>
            </a: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layout flexível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que se reorganiza de acordo com a necessidade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Bastante usado como base para sites responsivos!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03" name="Google Shape;203;p29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Antes do 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Flexbox Layout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alguns modos eram mais utilizados para se posicionar os elementos na página. Exemplos:</a:t>
            </a:r>
            <a:endParaRPr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○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Tabelas: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para dados de tabela bidimensional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○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Posicionado: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para posição explícita de um elemento (</a:t>
            </a:r>
            <a:r>
              <a:rPr i="1" lang="en" sz="20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static</a:t>
            </a:r>
            <a:r>
              <a:rPr i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 sz="20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relative</a:t>
            </a:r>
            <a:r>
              <a:rPr i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 sz="20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absolute</a:t>
            </a:r>
            <a:r>
              <a:rPr i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i="1" lang="en" sz="20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fixed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09" name="Google Shape;209;p30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Módulo de Layout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Flexbox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torna mais fácil projetar uma estrutura de layout responsiva e flexível sem usar flutuação ou posicionamentos explícitos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Elementos Flexbox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9900"/>
                </a:solidFill>
              </a:rPr>
              <a:t>Flex container</a:t>
            </a:r>
            <a:endParaRPr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20" name="Google Shape;220;p32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Para começar a usar um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Flexbox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precisamos definir o conceito de </a:t>
            </a: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container</a:t>
            </a:r>
            <a:endParaRPr b="1"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9900"/>
              </a:buClr>
              <a:buSzPts val="2000"/>
              <a:buFont typeface="Roboto"/>
              <a:buChar char="○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container: 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elemento que envolve uma estrutura com mais itens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 rotWithShape="1">
          <a:blip r:embed="rId3">
            <a:alphaModFix/>
          </a:blip>
          <a:srcRect b="6171" l="5814" r="5020" t="4263"/>
          <a:stretch/>
        </p:blipFill>
        <p:spPr>
          <a:xfrm>
            <a:off x="5070450" y="2638825"/>
            <a:ext cx="2890675" cy="21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0" y="4846700"/>
            <a:ext cx="5767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FFFF"/>
                </a:solidFill>
              </a:rPr>
              <a:t>Figura: https://www.devmedia.com.br/css3-flexbox-funcionamento-e-propriedades/29532</a:t>
            </a:r>
            <a:endParaRPr i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28" name="Google Shape;228;p33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1245925" y="1897050"/>
            <a:ext cx="71910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Um layout flexível deve ter um container com a propriedade  </a:t>
            </a:r>
            <a:r>
              <a:rPr b="1" i="1" lang="en" sz="1800">
                <a:solidFill>
                  <a:srgbClr val="FF9900"/>
                </a:solidFill>
              </a:rPr>
              <a:t>display</a:t>
            </a:r>
            <a:r>
              <a:rPr lang="en" sz="1800">
                <a:solidFill>
                  <a:srgbClr val="FFFFFF"/>
                </a:solidFill>
              </a:rPr>
              <a:t> definida como</a:t>
            </a:r>
            <a:r>
              <a:rPr b="1" i="1" lang="en" sz="1800">
                <a:solidFill>
                  <a:srgbClr val="00FF00"/>
                </a:solidFill>
              </a:rPr>
              <a:t> flex</a:t>
            </a:r>
            <a:endParaRPr b="1" i="1" sz="1800">
              <a:solidFill>
                <a:srgbClr val="00FF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Os itens internos do container flexível tornam-se automaticamente itens flexíveis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35" name="Google Shape;235;p34"/>
          <p:cNvSpPr txBox="1"/>
          <p:nvPr/>
        </p:nvSpPr>
        <p:spPr>
          <a:xfrm>
            <a:off x="1145425" y="960575"/>
            <a:ext cx="7191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25" y="1629324"/>
            <a:ext cx="4272683" cy="33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3525" y="1629325"/>
            <a:ext cx="4344250" cy="33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43" name="Google Shape;243;p35"/>
          <p:cNvSpPr txBox="1"/>
          <p:nvPr/>
        </p:nvSpPr>
        <p:spPr>
          <a:xfrm>
            <a:off x="1145425" y="960575"/>
            <a:ext cx="7191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75" y="1754650"/>
            <a:ext cx="791527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50" name="Google Shape;250;p36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1245925" y="1744650"/>
            <a:ext cx="7191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Propriedades do flex container: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flex-direction</a:t>
            </a:r>
            <a:endParaRPr>
              <a:solidFill>
                <a:srgbClr val="00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flex-wrap</a:t>
            </a:r>
            <a:endParaRPr>
              <a:solidFill>
                <a:srgbClr val="00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flex-flow</a:t>
            </a:r>
            <a:endParaRPr>
              <a:solidFill>
                <a:srgbClr val="00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justify-content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align-content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align-items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57" name="Google Shape;257;p37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1245925" y="1744650"/>
            <a:ext cx="7191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flex-direction</a:t>
            </a:r>
            <a:r>
              <a:rPr lang="en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FFFFFF"/>
                </a:solidFill>
              </a:rPr>
              <a:t> define o fluxo de exibição em que os elementos serão organizados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row (padrão):</a:t>
            </a:r>
            <a:r>
              <a:rPr lang="en" sz="1800">
                <a:solidFill>
                  <a:srgbClr val="FFFFFF"/>
                </a:solidFill>
              </a:rPr>
              <a:t> linha da esquerda para a direita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row-reverse:</a:t>
            </a:r>
            <a:r>
              <a:rPr lang="en" sz="1800">
                <a:solidFill>
                  <a:srgbClr val="FFFFFF"/>
                </a:solidFill>
              </a:rPr>
              <a:t> linha da direita para a esquerda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column:</a:t>
            </a:r>
            <a:r>
              <a:rPr lang="en" sz="1800">
                <a:solidFill>
                  <a:srgbClr val="FFFFFF"/>
                </a:solidFill>
              </a:rPr>
              <a:t> colunas iniciando de cima para baixo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column-reverse: </a:t>
            </a:r>
            <a:r>
              <a:rPr lang="en" sz="1800">
                <a:solidFill>
                  <a:srgbClr val="FFFFFF"/>
                </a:solidFill>
              </a:rPr>
              <a:t>colunas iniciando de baixo para cima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64" name="Google Shape;264;p38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1245925" y="1744650"/>
            <a:ext cx="7191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flex-direction</a:t>
            </a:r>
            <a:r>
              <a:rPr lang="en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FFFFFF"/>
                </a:solidFill>
              </a:rPr>
              <a:t> define o fluxo de exibição em que os elementos serão organizados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Exemplos em aula!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950" y="2381900"/>
            <a:ext cx="3216200" cy="24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/>
          <p:nvPr/>
        </p:nvSpPr>
        <p:spPr>
          <a:xfrm>
            <a:off x="0" y="4846700"/>
            <a:ext cx="5767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FFFF"/>
                </a:solidFill>
              </a:rPr>
              <a:t>Figura: https://www.devmedia.com.br/css3-flexbox-funcionamento-e-propriedades/29532</a:t>
            </a:r>
            <a:endParaRPr i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73" name="Google Shape;273;p39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1245925" y="1744650"/>
            <a:ext cx="7191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flex-direction</a:t>
            </a:r>
            <a:r>
              <a:rPr lang="en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75" name="Google Shape;2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013" y="2481300"/>
            <a:ext cx="3609975" cy="222885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6" name="Google Shape;27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350" y="376263"/>
            <a:ext cx="3905250" cy="433387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82" name="Google Shape;282;p40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40"/>
          <p:cNvSpPr txBox="1"/>
          <p:nvPr/>
        </p:nvSpPr>
        <p:spPr>
          <a:xfrm>
            <a:off x="1245925" y="1744650"/>
            <a:ext cx="7191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flex-wrap</a:t>
            </a:r>
            <a:r>
              <a:rPr lang="en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FFFFFF"/>
                </a:solidFill>
              </a:rPr>
              <a:t> permite que ocorra a “quebra de linha” nos itens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nowrap (padrão): </a:t>
            </a:r>
            <a:r>
              <a:rPr lang="en" sz="1800">
                <a:solidFill>
                  <a:srgbClr val="FFFFFF"/>
                </a:solidFill>
              </a:rPr>
              <a:t>Todos os itens serão dispostos em uma linha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wrap:</a:t>
            </a:r>
            <a:r>
              <a:rPr lang="en" sz="1800">
                <a:solidFill>
                  <a:srgbClr val="FFFFFF"/>
                </a:solidFill>
              </a:rPr>
              <a:t> Ocorrerá a quebra de linha e os itens mais à direita serão deslocados para a linha de baixo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wrap-reverse:</a:t>
            </a:r>
            <a:r>
              <a:rPr lang="en" sz="1800">
                <a:solidFill>
                  <a:srgbClr val="FFFFFF"/>
                </a:solidFill>
              </a:rPr>
              <a:t> Ocorrerá a quebra de linha e os itens mais à direita serão deslocados para a linha de cima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89" name="Google Shape;289;p41"/>
          <p:cNvSpPr txBox="1"/>
          <p:nvPr/>
        </p:nvSpPr>
        <p:spPr>
          <a:xfrm>
            <a:off x="1145425" y="1189175"/>
            <a:ext cx="7191000" cy="19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1245925" y="1744650"/>
            <a:ext cx="71910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flex-wrap</a:t>
            </a:r>
            <a:r>
              <a:rPr lang="en">
                <a:solidFill>
                  <a:srgbClr val="00FFFF"/>
                </a:solidFill>
              </a:rPr>
              <a:t>: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825" y="2215850"/>
            <a:ext cx="3147475" cy="284662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2" name="Google Shape;2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563" y="280925"/>
            <a:ext cx="3876675" cy="478155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298" name="Google Shape;298;p42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42"/>
          <p:cNvSpPr txBox="1"/>
          <p:nvPr/>
        </p:nvSpPr>
        <p:spPr>
          <a:xfrm>
            <a:off x="1245925" y="1744650"/>
            <a:ext cx="71910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flex-flow</a:t>
            </a:r>
            <a:r>
              <a:rPr lang="en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FFFFFF"/>
                </a:solidFill>
              </a:rPr>
              <a:t> abreviação das propriedades </a:t>
            </a:r>
            <a:r>
              <a:rPr i="1" lang="en" sz="1800">
                <a:solidFill>
                  <a:srgbClr val="00FFFF"/>
                </a:solidFill>
              </a:rPr>
              <a:t>flex-direction</a:t>
            </a:r>
            <a:r>
              <a:rPr lang="en" sz="1800">
                <a:solidFill>
                  <a:srgbClr val="FFFFFF"/>
                </a:solidFill>
              </a:rPr>
              <a:t> e </a:t>
            </a:r>
            <a:r>
              <a:rPr i="1" lang="en" sz="1800">
                <a:solidFill>
                  <a:srgbClr val="00FFFF"/>
                </a:solidFill>
              </a:rPr>
              <a:t>flex-wrap</a:t>
            </a:r>
            <a:endParaRPr i="1" sz="1800">
              <a:solidFill>
                <a:srgbClr val="00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Exemplo: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00" name="Google Shape;3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625" y="3077838"/>
            <a:ext cx="3886200" cy="185737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1" name="Google Shape;30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288" y="3077838"/>
            <a:ext cx="3876675" cy="147637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2" name="Google Shape;302;p42"/>
          <p:cNvSpPr txBox="1"/>
          <p:nvPr/>
        </p:nvSpPr>
        <p:spPr>
          <a:xfrm>
            <a:off x="750525" y="2657525"/>
            <a:ext cx="3000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Com </a:t>
            </a:r>
            <a:r>
              <a:rPr i="1" lang="en" sz="1500">
                <a:solidFill>
                  <a:srgbClr val="00FFFF"/>
                </a:solidFill>
              </a:rPr>
              <a:t>flex-direction</a:t>
            </a:r>
            <a:r>
              <a:rPr lang="en" sz="1500">
                <a:solidFill>
                  <a:srgbClr val="FFFFFF"/>
                </a:solidFill>
              </a:rPr>
              <a:t> e </a:t>
            </a:r>
            <a:r>
              <a:rPr i="1" lang="en" sz="1500">
                <a:solidFill>
                  <a:srgbClr val="00FFFF"/>
                </a:solidFill>
              </a:rPr>
              <a:t>flex-wrap</a:t>
            </a:r>
            <a:endParaRPr sz="1500"/>
          </a:p>
        </p:txBody>
      </p:sp>
      <p:sp>
        <p:nvSpPr>
          <p:cNvPr id="303" name="Google Shape;303;p42"/>
          <p:cNvSpPr txBox="1"/>
          <p:nvPr/>
        </p:nvSpPr>
        <p:spPr>
          <a:xfrm>
            <a:off x="4789125" y="2657525"/>
            <a:ext cx="3000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Com </a:t>
            </a:r>
            <a:r>
              <a:rPr i="1" lang="en" sz="1500">
                <a:solidFill>
                  <a:srgbClr val="00FFFF"/>
                </a:solidFill>
              </a:rPr>
              <a:t>flex-flow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09" name="Google Shape;309;p43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/>
        </p:nvSpPr>
        <p:spPr>
          <a:xfrm>
            <a:off x="1245925" y="1744650"/>
            <a:ext cx="71910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justify-content: </a:t>
            </a:r>
            <a:r>
              <a:rPr lang="en" sz="1800">
                <a:solidFill>
                  <a:srgbClr val="FFFFFF"/>
                </a:solidFill>
              </a:rPr>
              <a:t>alinhamento dos itens ao longo do eixo principal do container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flex-start (padrão):</a:t>
            </a:r>
            <a:r>
              <a:rPr lang="en" sz="1800">
                <a:solidFill>
                  <a:srgbClr val="FFFFFF"/>
                </a:solidFill>
              </a:rPr>
              <a:t> itens são alinhados a partir do início do eixo principal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flex-end:</a:t>
            </a:r>
            <a:r>
              <a:rPr lang="en" sz="1800">
                <a:solidFill>
                  <a:srgbClr val="FFFFFF"/>
                </a:solidFill>
              </a:rPr>
              <a:t> itens são alinhados a partir do fim do eixo principal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center:</a:t>
            </a:r>
            <a:r>
              <a:rPr lang="en" sz="1800">
                <a:solidFill>
                  <a:srgbClr val="FFFFFF"/>
                </a:solidFill>
              </a:rPr>
              <a:t> itens são alinhados no centro do eixo principal</a:t>
            </a:r>
            <a:endParaRPr i="1" sz="18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16" name="Google Shape;316;p44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4"/>
          <p:cNvSpPr txBox="1"/>
          <p:nvPr/>
        </p:nvSpPr>
        <p:spPr>
          <a:xfrm>
            <a:off x="1245925" y="1744650"/>
            <a:ext cx="71910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justify-content: </a:t>
            </a:r>
            <a:r>
              <a:rPr lang="en" sz="1800">
                <a:solidFill>
                  <a:srgbClr val="FFFFFF"/>
                </a:solidFill>
              </a:rPr>
              <a:t>alinhamento dos itens ao longo do eixo principal do container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space-between:</a:t>
            </a:r>
            <a:r>
              <a:rPr lang="en" sz="1800">
                <a:solidFill>
                  <a:srgbClr val="FFFFFF"/>
                </a:solidFill>
              </a:rPr>
              <a:t> O primeiro item fica no início do eixo principal, o último fica no fim do eixo principal e os demais são distribuídos uniformemente entre eles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FFFFFF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space-around:</a:t>
            </a:r>
            <a:r>
              <a:rPr lang="en" sz="1800">
                <a:solidFill>
                  <a:srgbClr val="FFFFFF"/>
                </a:solidFill>
              </a:rPr>
              <a:t> Os itens são uniformemente distribuídos ao longo do eixo principal</a:t>
            </a:r>
            <a:endParaRPr i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23" name="Google Shape;323;p45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1245925" y="1744650"/>
            <a:ext cx="47799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justify-content: </a:t>
            </a:r>
            <a:r>
              <a:rPr lang="en" sz="1800">
                <a:solidFill>
                  <a:srgbClr val="FFFFFF"/>
                </a:solidFill>
              </a:rPr>
              <a:t>alinhamento dos itens ao longo do eixo principal do container</a:t>
            </a:r>
            <a:endParaRPr sz="1800">
              <a:solidFill>
                <a:srgbClr val="FFFFFF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00FF00"/>
              </a:buClr>
              <a:buSzPts val="1350"/>
              <a:buFont typeface="Times New Roman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Exemplos em aula!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25" name="Google Shape;3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6850" y="95125"/>
            <a:ext cx="2498821" cy="49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5"/>
          <p:cNvSpPr txBox="1"/>
          <p:nvPr/>
        </p:nvSpPr>
        <p:spPr>
          <a:xfrm>
            <a:off x="0" y="4846700"/>
            <a:ext cx="5767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FFFF"/>
                </a:solidFill>
              </a:rPr>
              <a:t>Figura: https://www.devmedia.com.br/css3-flexbox-funcionamento-e-propriedades/29532</a:t>
            </a:r>
            <a:endParaRPr i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32" name="Google Shape;332;p46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1245925" y="1744650"/>
            <a:ext cx="47799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justify-content: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34" name="Google Shape;3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349" y="173475"/>
            <a:ext cx="4134350" cy="4796551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5" name="Google Shape;33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125" y="2398275"/>
            <a:ext cx="3733800" cy="257175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41" name="Google Shape;341;p47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1245925" y="1744650"/>
            <a:ext cx="42777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align-content: </a:t>
            </a:r>
            <a:r>
              <a:rPr lang="en" sz="1800">
                <a:solidFill>
                  <a:srgbClr val="FFFFFF"/>
                </a:solidFill>
              </a:rPr>
              <a:t>propriedade utilizada para alinhar as linhas flexíveis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stretch (padrão)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flex-start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flex-end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center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space-between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space-around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43" name="Google Shape;343;p47"/>
          <p:cNvPicPr preferRelativeResize="0"/>
          <p:nvPr/>
        </p:nvPicPr>
        <p:blipFill rotWithShape="1">
          <a:blip r:embed="rId3">
            <a:alphaModFix/>
          </a:blip>
          <a:srcRect b="0" l="0" r="3438" t="0"/>
          <a:stretch/>
        </p:blipFill>
        <p:spPr>
          <a:xfrm>
            <a:off x="5384667" y="381625"/>
            <a:ext cx="3689300" cy="44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7"/>
          <p:cNvSpPr txBox="1"/>
          <p:nvPr/>
        </p:nvSpPr>
        <p:spPr>
          <a:xfrm>
            <a:off x="0" y="4846700"/>
            <a:ext cx="5767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FFFF"/>
                </a:solidFill>
              </a:rPr>
              <a:t>Figura: https://www.devmedia.com.br/css3-flexbox-funcionamento-e-propriedades/29532</a:t>
            </a:r>
            <a:endParaRPr i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1297500" y="1928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50" name="Google Shape;350;p48"/>
          <p:cNvSpPr txBox="1"/>
          <p:nvPr/>
        </p:nvSpPr>
        <p:spPr>
          <a:xfrm>
            <a:off x="1145400" y="938025"/>
            <a:ext cx="71910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8"/>
          <p:cNvSpPr txBox="1"/>
          <p:nvPr/>
        </p:nvSpPr>
        <p:spPr>
          <a:xfrm>
            <a:off x="1255975" y="1355325"/>
            <a:ext cx="42777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align-content: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52" name="Google Shape;35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700" y="138987"/>
            <a:ext cx="3790675" cy="486552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3" name="Google Shape;35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097" y="1808300"/>
            <a:ext cx="2635828" cy="3196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59" name="Google Shape;359;p49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49"/>
          <p:cNvSpPr txBox="1"/>
          <p:nvPr/>
        </p:nvSpPr>
        <p:spPr>
          <a:xfrm>
            <a:off x="1245925" y="1744650"/>
            <a:ext cx="47799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align-items:</a:t>
            </a:r>
            <a:r>
              <a:rPr lang="en" sz="1800">
                <a:solidFill>
                  <a:srgbClr val="00FFFF"/>
                </a:solidFill>
              </a:rPr>
              <a:t> </a:t>
            </a:r>
            <a:r>
              <a:rPr lang="en" sz="1800">
                <a:solidFill>
                  <a:srgbClr val="FFFFFF"/>
                </a:solidFill>
              </a:rPr>
              <a:t>alinhamento dos itens flexíveis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stretch (padrão)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flex-start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flex-end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center</a:t>
            </a:r>
            <a:endParaRPr i="1" sz="1800">
              <a:solidFill>
                <a:srgbClr val="00FF00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FF00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baseline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61" name="Google Shape;36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587" y="515900"/>
            <a:ext cx="3682413" cy="43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9"/>
          <p:cNvSpPr txBox="1"/>
          <p:nvPr/>
        </p:nvSpPr>
        <p:spPr>
          <a:xfrm>
            <a:off x="0" y="4846700"/>
            <a:ext cx="5767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FFFF"/>
                </a:solidFill>
              </a:rPr>
              <a:t>Figura: https://www.devmedia.com.br/css3-flexbox-funcionamento-e-propriedades/29532</a:t>
            </a:r>
            <a:endParaRPr i="1"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>
            <p:ph type="title"/>
          </p:nvPr>
        </p:nvSpPr>
        <p:spPr>
          <a:xfrm>
            <a:off x="1297500" y="1651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68" name="Google Shape;368;p50"/>
          <p:cNvSpPr txBox="1"/>
          <p:nvPr/>
        </p:nvSpPr>
        <p:spPr>
          <a:xfrm>
            <a:off x="1145425" y="808175"/>
            <a:ext cx="71910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container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0"/>
          <p:cNvSpPr txBox="1"/>
          <p:nvPr/>
        </p:nvSpPr>
        <p:spPr>
          <a:xfrm>
            <a:off x="1245925" y="1211250"/>
            <a:ext cx="47799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align-items</a:t>
            </a:r>
            <a:r>
              <a:rPr lang="en" sz="1800">
                <a:solidFill>
                  <a:srgbClr val="00FFFF"/>
                </a:solidFill>
              </a:rPr>
              <a:t>:</a:t>
            </a:r>
            <a:r>
              <a:rPr lang="en" sz="1800">
                <a:solidFill>
                  <a:srgbClr val="00FFFF"/>
                </a:solidFill>
              </a:rPr>
              <a:t> 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70" name="Google Shape;3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75" y="1659300"/>
            <a:ext cx="2799950" cy="34080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1" name="Google Shape;37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3700" y="1659300"/>
            <a:ext cx="2502020" cy="203522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6776" y="132037"/>
            <a:ext cx="2914450" cy="4879425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Elementos Flexbox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9900"/>
                </a:solidFill>
              </a:rPr>
              <a:t>Flex items</a:t>
            </a:r>
            <a:endParaRPr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83" name="Google Shape;383;p52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52"/>
          <p:cNvSpPr txBox="1"/>
          <p:nvPr/>
        </p:nvSpPr>
        <p:spPr>
          <a:xfrm>
            <a:off x="1245925" y="1744650"/>
            <a:ext cx="71910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Os</a:t>
            </a:r>
            <a:r>
              <a:rPr lang="en" sz="1800">
                <a:solidFill>
                  <a:srgbClr val="00FF00"/>
                </a:solidFill>
              </a:rPr>
              <a:t> </a:t>
            </a:r>
            <a:r>
              <a:rPr b="1" lang="en" sz="1800">
                <a:solidFill>
                  <a:srgbClr val="00FF00"/>
                </a:solidFill>
              </a:rPr>
              <a:t>itens</a:t>
            </a:r>
            <a:r>
              <a:rPr lang="en" sz="1800">
                <a:solidFill>
                  <a:srgbClr val="FFFFFF"/>
                </a:solidFill>
              </a:rPr>
              <a:t> internos do container flexível tornam-se automaticamente </a:t>
            </a:r>
            <a:r>
              <a:rPr b="1" lang="en" sz="1800">
                <a:solidFill>
                  <a:srgbClr val="00FF00"/>
                </a:solidFill>
              </a:rPr>
              <a:t>itens flexíveis</a:t>
            </a:r>
            <a:endParaRPr b="1" sz="18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90" name="Google Shape;390;p53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53"/>
          <p:cNvSpPr txBox="1"/>
          <p:nvPr/>
        </p:nvSpPr>
        <p:spPr>
          <a:xfrm>
            <a:off x="1245925" y="1744650"/>
            <a:ext cx="71910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Propriedades dos </a:t>
            </a:r>
            <a:r>
              <a:rPr lang="en" sz="1800">
                <a:solidFill>
                  <a:srgbClr val="FF9900"/>
                </a:solidFill>
              </a:rPr>
              <a:t>flex items</a:t>
            </a:r>
            <a:r>
              <a:rPr lang="en" sz="1800">
                <a:solidFill>
                  <a:srgbClr val="FFFFFF"/>
                </a:solidFill>
              </a:rPr>
              <a:t>: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order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flex-grow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flex-shrink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flex-basis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flex</a:t>
            </a:r>
            <a:endParaRPr sz="1800">
              <a:solidFill>
                <a:srgbClr val="00FFF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FFFF"/>
              </a:buClr>
              <a:buSzPts val="1800"/>
              <a:buChar char="○"/>
            </a:pPr>
            <a:r>
              <a:rPr lang="en" sz="1800">
                <a:solidFill>
                  <a:srgbClr val="00FFFF"/>
                </a:solidFill>
              </a:rPr>
              <a:t>align-self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397" name="Google Shape;397;p54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54"/>
          <p:cNvSpPr txBox="1"/>
          <p:nvPr/>
        </p:nvSpPr>
        <p:spPr>
          <a:xfrm>
            <a:off x="1245925" y="1744650"/>
            <a:ext cx="67611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order</a:t>
            </a:r>
            <a:r>
              <a:rPr lang="en" sz="1800">
                <a:solidFill>
                  <a:srgbClr val="00FFFF"/>
                </a:solidFill>
              </a:rPr>
              <a:t>: </a:t>
            </a:r>
            <a:r>
              <a:rPr lang="en" sz="1800">
                <a:solidFill>
                  <a:srgbClr val="FFFFFF"/>
                </a:solidFill>
              </a:rPr>
              <a:t>altera a ordem de exibição dos itens</a:t>
            </a:r>
            <a:endParaRPr i="1" sz="1800">
              <a:solidFill>
                <a:srgbClr val="00FF00"/>
              </a:solidFill>
            </a:endParaRPr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350" y="2190553"/>
            <a:ext cx="3443075" cy="149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2325" y="3816700"/>
            <a:ext cx="52482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06" name="Google Shape;406;p55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55"/>
          <p:cNvSpPr txBox="1"/>
          <p:nvPr/>
        </p:nvSpPr>
        <p:spPr>
          <a:xfrm>
            <a:off x="1245925" y="1744650"/>
            <a:ext cx="76830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flex-grow</a:t>
            </a:r>
            <a:r>
              <a:rPr lang="en" sz="1800">
                <a:solidFill>
                  <a:srgbClr val="00FFFF"/>
                </a:solidFill>
              </a:rPr>
              <a:t>: </a:t>
            </a:r>
            <a:r>
              <a:rPr lang="en" sz="1800">
                <a:solidFill>
                  <a:srgbClr val="FFFFFF"/>
                </a:solidFill>
              </a:rPr>
              <a:t>especifica</a:t>
            </a:r>
            <a:r>
              <a:rPr lang="en" sz="1800">
                <a:solidFill>
                  <a:srgbClr val="FFFFFF"/>
                </a:solidFill>
              </a:rPr>
              <a:t> quanto um flex item irá crescer em relação ao resto dos flex items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408" name="Google Shape;40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850" y="2294300"/>
            <a:ext cx="3493125" cy="13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775" y="3758438"/>
            <a:ext cx="80772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5"/>
          <p:cNvSpPr txBox="1"/>
          <p:nvPr/>
        </p:nvSpPr>
        <p:spPr>
          <a:xfrm>
            <a:off x="1044975" y="2372100"/>
            <a:ext cx="47025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Exemplo:</a:t>
            </a:r>
            <a:r>
              <a:rPr lang="en" sz="1800">
                <a:solidFill>
                  <a:srgbClr val="FFFFFF"/>
                </a:solidFill>
              </a:rPr>
              <a:t> Faz o terceiro item flexível crescer oito vezes mais rápido do que os outros itens flexíveis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16" name="Google Shape;416;p56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6"/>
          <p:cNvSpPr txBox="1"/>
          <p:nvPr/>
        </p:nvSpPr>
        <p:spPr>
          <a:xfrm>
            <a:off x="1245925" y="1744650"/>
            <a:ext cx="76830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flex-shrink</a:t>
            </a:r>
            <a:r>
              <a:rPr lang="en" sz="1800">
                <a:solidFill>
                  <a:srgbClr val="00FFFF"/>
                </a:solidFill>
              </a:rPr>
              <a:t>: </a:t>
            </a:r>
            <a:r>
              <a:rPr lang="en" sz="1800">
                <a:solidFill>
                  <a:srgbClr val="FFFFFF"/>
                </a:solidFill>
              </a:rPr>
              <a:t>especifica quanto um flex item irá encolher em relação ao resto dos flex items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8" name="Google Shape;418;p56"/>
          <p:cNvSpPr txBox="1"/>
          <p:nvPr/>
        </p:nvSpPr>
        <p:spPr>
          <a:xfrm>
            <a:off x="1044975" y="2517875"/>
            <a:ext cx="38265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Exemplo:</a:t>
            </a:r>
            <a:r>
              <a:rPr lang="en" sz="1800">
                <a:solidFill>
                  <a:srgbClr val="FFFFFF"/>
                </a:solidFill>
              </a:rPr>
              <a:t> Não deixa o terceiro item flexível encolher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419" name="Google Shape;41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225" y="3769263"/>
            <a:ext cx="22288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446" y="2378300"/>
            <a:ext cx="4095630" cy="1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26" name="Google Shape;426;p57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7"/>
          <p:cNvSpPr txBox="1"/>
          <p:nvPr/>
        </p:nvSpPr>
        <p:spPr>
          <a:xfrm>
            <a:off x="1245925" y="1744650"/>
            <a:ext cx="7683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flex-basis</a:t>
            </a:r>
            <a:r>
              <a:rPr lang="en" sz="1800">
                <a:solidFill>
                  <a:srgbClr val="00FFFF"/>
                </a:solidFill>
              </a:rPr>
              <a:t>: </a:t>
            </a:r>
            <a:r>
              <a:rPr lang="en" sz="1800">
                <a:solidFill>
                  <a:srgbClr val="FFFFFF"/>
                </a:solidFill>
              </a:rPr>
              <a:t>especifica o comprimento inicial de um flex item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28" name="Google Shape;428;p57"/>
          <p:cNvSpPr txBox="1"/>
          <p:nvPr/>
        </p:nvSpPr>
        <p:spPr>
          <a:xfrm>
            <a:off x="1044975" y="2289275"/>
            <a:ext cx="34470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Exemplo:</a:t>
            </a:r>
            <a:r>
              <a:rPr lang="en" sz="1800">
                <a:solidFill>
                  <a:srgbClr val="FFFFFF"/>
                </a:solidFill>
              </a:rPr>
              <a:t> Configura o tamanho inicial do 3º item em 200 pixels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429" name="Google Shape;42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975" y="2300700"/>
            <a:ext cx="4170100" cy="13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138" y="3836763"/>
            <a:ext cx="625792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36" name="Google Shape;436;p58"/>
          <p:cNvSpPr txBox="1"/>
          <p:nvPr/>
        </p:nvSpPr>
        <p:spPr>
          <a:xfrm>
            <a:off x="1145425" y="1189175"/>
            <a:ext cx="7191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58"/>
          <p:cNvSpPr txBox="1"/>
          <p:nvPr/>
        </p:nvSpPr>
        <p:spPr>
          <a:xfrm>
            <a:off x="1245925" y="1744650"/>
            <a:ext cx="7683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flex: </a:t>
            </a:r>
            <a:r>
              <a:rPr lang="en" sz="1800">
                <a:solidFill>
                  <a:srgbClr val="FFFFFF"/>
                </a:solidFill>
              </a:rPr>
              <a:t>abreviação das propriedades </a:t>
            </a:r>
            <a:r>
              <a:rPr i="1" lang="en" sz="1800">
                <a:solidFill>
                  <a:srgbClr val="00FFFF"/>
                </a:solidFill>
              </a:rPr>
              <a:t>flex-grow</a:t>
            </a:r>
            <a:r>
              <a:rPr lang="en" sz="1800">
                <a:solidFill>
                  <a:srgbClr val="FFFFFF"/>
                </a:solidFill>
              </a:rPr>
              <a:t>, </a:t>
            </a:r>
            <a:r>
              <a:rPr i="1" lang="en" sz="1800">
                <a:solidFill>
                  <a:srgbClr val="00FFFF"/>
                </a:solidFill>
              </a:rPr>
              <a:t>flex-shrink </a:t>
            </a:r>
            <a:r>
              <a:rPr i="1" lang="en" sz="1800">
                <a:solidFill>
                  <a:srgbClr val="FFFFFF"/>
                </a:solidFill>
              </a:rPr>
              <a:t>e</a:t>
            </a:r>
            <a:r>
              <a:rPr i="1" lang="en" sz="1800">
                <a:solidFill>
                  <a:srgbClr val="00FFFF"/>
                </a:solidFill>
              </a:rPr>
              <a:t> flex-basis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438" name="Google Shape;4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125" y="3043278"/>
            <a:ext cx="4407575" cy="18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8"/>
          <p:cNvSpPr txBox="1"/>
          <p:nvPr/>
        </p:nvSpPr>
        <p:spPr>
          <a:xfrm>
            <a:off x="1145425" y="2204550"/>
            <a:ext cx="69567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Exemplo: </a:t>
            </a:r>
            <a:r>
              <a:rPr lang="en" sz="1800">
                <a:solidFill>
                  <a:srgbClr val="FFFFFF"/>
                </a:solidFill>
              </a:rPr>
              <a:t>Faz o terceiro item flexível não crescer (0), não encolher (0) e ter um comprimento inicial de 200 pixels: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45" name="Google Shape;445;p59"/>
          <p:cNvSpPr txBox="1"/>
          <p:nvPr/>
        </p:nvSpPr>
        <p:spPr>
          <a:xfrm>
            <a:off x="1145425" y="1189175"/>
            <a:ext cx="7191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items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59"/>
          <p:cNvSpPr txBox="1"/>
          <p:nvPr/>
        </p:nvSpPr>
        <p:spPr>
          <a:xfrm>
            <a:off x="1245925" y="1744650"/>
            <a:ext cx="7683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00FFFF"/>
                </a:solidFill>
              </a:rPr>
              <a:t>align-self: </a:t>
            </a:r>
            <a:r>
              <a:rPr lang="en" sz="1800">
                <a:solidFill>
                  <a:srgbClr val="FFFFFF"/>
                </a:solidFill>
              </a:rPr>
              <a:t>especifica o alinhamento para o item selecionado dentro do container flexível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7" name="Google Shape;447;p59"/>
          <p:cNvSpPr txBox="1"/>
          <p:nvPr/>
        </p:nvSpPr>
        <p:spPr>
          <a:xfrm>
            <a:off x="1338600" y="2473275"/>
            <a:ext cx="69567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○"/>
            </a:pPr>
            <a:r>
              <a:rPr i="1" lang="en" sz="1800">
                <a:solidFill>
                  <a:srgbClr val="00FF00"/>
                </a:solidFill>
              </a:rPr>
              <a:t>Tem basicamente as mesmas propriedades do align-items, mas serve para cada item individualmente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53" name="Google Shape;453;p60"/>
          <p:cNvSpPr txBox="1"/>
          <p:nvPr/>
        </p:nvSpPr>
        <p:spPr>
          <a:xfrm>
            <a:off x="1145425" y="1189175"/>
            <a:ext cx="7191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Responsive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0"/>
          <p:cNvSpPr txBox="1"/>
          <p:nvPr/>
        </p:nvSpPr>
        <p:spPr>
          <a:xfrm>
            <a:off x="1245925" y="1744650"/>
            <a:ext cx="7683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Com o Flex Responsive você pode criar diferentes estilos com relação ao tamanhos das telas dos dispositivos.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455" name="Google Shape;45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600" y="2578300"/>
            <a:ext cx="5877225" cy="22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CSS3 Flexbox</a:t>
            </a:r>
            <a:endParaRPr sz="3000"/>
          </a:p>
        </p:txBody>
      </p:sp>
      <p:sp>
        <p:nvSpPr>
          <p:cNvPr id="461" name="Google Shape;461;p61"/>
          <p:cNvSpPr txBox="1"/>
          <p:nvPr/>
        </p:nvSpPr>
        <p:spPr>
          <a:xfrm>
            <a:off x="1145425" y="1189175"/>
            <a:ext cx="7191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b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Flex Responsive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2" name="Google Shape;4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00" y="1825325"/>
            <a:ext cx="4002974" cy="3113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3" name="Google Shape;46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7025" y="720900"/>
            <a:ext cx="3400925" cy="42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Vá além!</a:t>
            </a:r>
            <a:endParaRPr/>
          </a:p>
        </p:txBody>
      </p:sp>
      <p:sp>
        <p:nvSpPr>
          <p:cNvPr id="469" name="Google Shape;469;p6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Leia mais sobre Web Design Responsivo </a:t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https://www.w3schools.com/css/css_rwd_intro.asp</a:t>
            </a:r>
            <a:endParaRPr sz="3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"/>
          <p:cNvSpPr txBox="1"/>
          <p:nvPr>
            <p:ph type="title"/>
          </p:nvPr>
        </p:nvSpPr>
        <p:spPr>
          <a:xfrm>
            <a:off x="1297500" y="6985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Prática!</a:t>
            </a:r>
            <a:endParaRPr sz="3000"/>
          </a:p>
        </p:txBody>
      </p:sp>
      <p:sp>
        <p:nvSpPr>
          <p:cNvPr id="475" name="Google Shape;475;p63"/>
          <p:cNvSpPr txBox="1"/>
          <p:nvPr/>
        </p:nvSpPr>
        <p:spPr>
          <a:xfrm>
            <a:off x="966825" y="1481025"/>
            <a:ext cx="7844400" cy="25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solidFill>
                  <a:srgbClr val="FFFFFF"/>
                </a:solidFill>
              </a:rPr>
              <a:t>Para treinar o uso das propriedades do Flexbox, vamos utilizar o </a:t>
            </a:r>
            <a:r>
              <a:rPr lang="en" sz="2200">
                <a:solidFill>
                  <a:srgbClr val="FF9900"/>
                </a:solidFill>
              </a:rPr>
              <a:t>Flexbox Froggy</a:t>
            </a:r>
            <a:r>
              <a:rPr lang="en" sz="2200">
                <a:solidFill>
                  <a:srgbClr val="FFFFFF"/>
                </a:solidFill>
              </a:rPr>
              <a:t>:</a:t>
            </a:r>
            <a:endParaRPr sz="2200">
              <a:solidFill>
                <a:srgbClr val="FFFFFF"/>
              </a:solidFill>
            </a:endParaRPr>
          </a:p>
          <a:p>
            <a:pPr indent="-368300" lvl="1" marL="1371600" rtl="0" algn="l"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2200"/>
              <a:buChar char="○"/>
            </a:pPr>
            <a:r>
              <a:rPr lang="en" sz="2200" u="sng">
                <a:solidFill>
                  <a:srgbClr val="00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https://flexboxfroggy.com/#pt-br</a:t>
            </a:r>
            <a:endParaRPr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990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esqueçam de marcar presença!</a:t>
            </a:r>
            <a:endParaRPr/>
          </a:p>
        </p:txBody>
      </p:sp>
      <p:sp>
        <p:nvSpPr>
          <p:cNvPr id="481" name="Google Shape;481;p6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5"/>
          <p:cNvSpPr txBox="1"/>
          <p:nvPr>
            <p:ph idx="1" type="body"/>
          </p:nvPr>
        </p:nvSpPr>
        <p:spPr>
          <a:xfrm>
            <a:off x="812725" y="42291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desenvolvido por: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Danilo Périco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Isaac de Jesus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Fagner Pimentel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https://www.w3schools.com/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